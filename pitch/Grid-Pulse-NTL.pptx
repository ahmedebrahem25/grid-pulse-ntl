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spc="300">
                <a:solidFill>
                  <a:srgbClr val="34C8E0"/>
                </a:solidFill>
                <a:latin typeface="Consolas"/>
              </a:rPr>
              <a:t>GRID-PULSE NTL</a:t>
            </a:r>
            <a:r>
              <a:rPr sz="1200" b="0">
                <a:solidFill>
                  <a:srgbClr val="5F7178"/>
                </a:solidFill>
                <a:latin typeface="Consolas"/>
              </a:rPr>
              <a:t>    //  Kafr El-Sheikh · autonomous NTL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492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EEF0"/>
                </a:solidFill>
                <a:latin typeface="Segoe UI Semibold"/>
              </a:rPr>
              <a:t>The grid loses power it can't </a:t>
            </a:r>
            <a:r>
              <a:rPr sz="4000" b="1">
                <a:solidFill>
                  <a:srgbClr val="34C8E0"/>
                </a:solidFill>
                <a:latin typeface="Segoe UI Semibold"/>
              </a:rPr>
              <a:t>see</a:t>
            </a:r>
            <a:r>
              <a:rPr sz="4000" b="1">
                <a:solidFill>
                  <a:srgbClr val="E8EEF0"/>
                </a:solidFill>
                <a:latin typeface="Segoe UI Semibold"/>
              </a:rPr>
              <a:t>. We find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6126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8A9BA1"/>
                </a:solidFill>
                <a:latin typeface="Segoe UI"/>
              </a:rPr>
              <a:t>Every distribution transformer leaks energy — some to heat, some to theft. Grid-Pulse learns how much loss is </a:t>
            </a:r>
            <a:r>
              <a:rPr sz="1450" b="1">
                <a:solidFill>
                  <a:srgbClr val="E8EEF0"/>
                </a:solidFill>
                <a:latin typeface="Segoe UI"/>
              </a:rPr>
              <a:t>normal right now</a:t>
            </a:r>
            <a:r>
              <a:rPr sz="1450" b="0">
                <a:solidFill>
                  <a:srgbClr val="8A9BA1"/>
                </a:solidFill>
                <a:latin typeface="Segoe UI"/>
              </a:rPr>
              <a:t> — load, temperature, hour — and flags only the unexplained rest as theft, with the reason it decided.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EF0"/>
                </a:solidFill>
                <a:latin typeface="Consolas"/>
              </a:rPr>
              <a:t>≈ 30B EGP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9BA1"/>
                </a:solidFill>
                <a:latin typeface="Segoe UI"/>
              </a:rPr>
              <a:t>lost to non-technical loss in Egypt, every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48920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EF0"/>
                </a:solidFill>
                <a:latin typeface="Consolas"/>
              </a:rPr>
              <a:t>&lt; 1 month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8A9BA1"/>
                </a:solidFill>
                <a:latin typeface="Segoe UI"/>
              </a:rPr>
              <a:t>payback per instrumented transformer kiosk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34440"/>
            <a:ext cx="4023360" cy="4709160"/>
          </a:xfrm>
          <a:prstGeom prst="roundRect">
            <a:avLst>
              <a:gd name="adj" fmla="val 5000"/>
            </a:avLst>
          </a:prstGeom>
          <a:solidFill>
            <a:srgbClr val="0E1418"/>
          </a:solidFill>
          <a:ln w="12700">
            <a:solidFill>
              <a:srgbClr val="2A3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490472"/>
            <a:ext cx="3438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spc="160">
                <a:solidFill>
                  <a:srgbClr val="FF4D5E"/>
                </a:solidFill>
                <a:latin typeface="Consolas"/>
              </a:rPr>
              <a:t>◆ THEFT SUSPECTED</a:t>
            </a:r>
            <a:r>
              <a:rPr sz="1100" b="0">
                <a:solidFill>
                  <a:srgbClr val="8A9BA1"/>
                </a:solidFill>
                <a:latin typeface="Consolas"/>
              </a:rPr>
              <a:t>        TX-KFS-0456 · single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92808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4D5E"/>
                </a:solidFill>
                <a:latin typeface="Consolas"/>
              </a:rPr>
              <a:t>94%</a:t>
            </a:r>
            <a:r>
              <a:rPr sz="1300" b="0">
                <a:solidFill>
                  <a:srgbClr val="8A9BA1"/>
                </a:solidFill>
                <a:latin typeface="Segoe UI"/>
              </a:rPr>
              <a:t>  theft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862072"/>
            <a:ext cx="3438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3D0D4"/>
                </a:solidFill>
                <a:latin typeface="Segoe UI"/>
              </a:rPr>
              <a:t>~3.08 kW unaccounted beyond natural loss — dispatch field inspection.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3429000"/>
            <a:ext cx="3474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✓  </a:t>
            </a:r>
            <a:r>
              <a:rPr sz="1150" b="1">
                <a:solidFill>
                  <a:srgbClr val="E8EEF0"/>
                </a:solidFill>
                <a:latin typeface="Segoe UI"/>
              </a:rPr>
              <a:t>Energy imbalance   </a:t>
            </a:r>
            <a:r>
              <a:rPr sz="1000" b="0">
                <a:solidFill>
                  <a:srgbClr val="5F7178"/>
                </a:solidFill>
                <a:latin typeface="Consolas"/>
              </a:rPr>
              <a:t>+3076 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✓  </a:t>
            </a:r>
            <a:r>
              <a:rPr sz="1150" b="1">
                <a:solidFill>
                  <a:srgbClr val="E8EEF0"/>
                </a:solidFill>
                <a:latin typeface="Segoe UI"/>
              </a:rPr>
              <a:t>Expected loss exceeded   </a:t>
            </a:r>
            <a:r>
              <a:rPr sz="1000" b="0">
                <a:solidFill>
                  <a:srgbClr val="5F7178"/>
                </a:solidFill>
                <a:latin typeface="Consolas"/>
              </a:rPr>
              <a:t>+951% vs baseline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✓  </a:t>
            </a:r>
            <a:r>
              <a:rPr sz="1150" b="1">
                <a:solidFill>
                  <a:srgbClr val="E8EEF0"/>
                </a:solidFill>
                <a:latin typeface="Segoe UI"/>
              </a:rPr>
              <a:t>Power factor dropped   </a:t>
            </a:r>
            <a:r>
              <a:rPr sz="1000" b="0">
                <a:solidFill>
                  <a:srgbClr val="5F7178"/>
                </a:solidFill>
                <a:latin typeface="Consolas"/>
              </a:rPr>
              <a:t>0.66 (≥ 0.92)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✓  </a:t>
            </a:r>
            <a:r>
              <a:rPr sz="1150" b="1">
                <a:solidFill>
                  <a:srgbClr val="E8EEF0"/>
                </a:solidFill>
                <a:latin typeface="Segoe UI"/>
              </a:rPr>
              <a:t>THD increased   </a:t>
            </a:r>
            <a:r>
              <a:rPr sz="1000" b="0">
                <a:solidFill>
                  <a:srgbClr val="5F7178"/>
                </a:solidFill>
                <a:latin typeface="Consolas"/>
              </a:rPr>
              <a:t>22% (&gt; 10%)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FF4D5E"/>
                </a:solidFill>
                <a:latin typeface="Consolas"/>
              </a:rPr>
              <a:t>✓  </a:t>
            </a:r>
            <a:r>
              <a:rPr sz="1150" b="1">
                <a:solidFill>
                  <a:srgbClr val="E8EEF0"/>
                </a:solidFill>
                <a:latin typeface="Segoe UI"/>
              </a:rPr>
              <a:t>Load outside normal pattern   </a:t>
            </a:r>
            <a:r>
              <a:rPr sz="1000" b="0">
                <a:solidFill>
                  <a:srgbClr val="5F7178"/>
                </a:solidFill>
                <a:latin typeface="Consolas"/>
              </a:rPr>
              <a:t>anomaly 0.83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8" y="5093208"/>
            <a:ext cx="1078992" cy="713232"/>
          </a:xfrm>
          <a:prstGeom prst="roundRect">
            <a:avLst>
              <a:gd name="adj" fmla="val 12000"/>
            </a:avLst>
          </a:prstGeom>
          <a:solidFill>
            <a:srgbClr val="0B1013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415" y="5184648"/>
            <a:ext cx="877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EF0"/>
                </a:solidFill>
                <a:latin typeface="Consolas"/>
              </a:rPr>
              <a:t>3.40</a:t>
            </a:r>
            <a:r>
              <a:rPr sz="900" b="0">
                <a:solidFill>
                  <a:srgbClr val="E8EEF0"/>
                </a:solidFill>
                <a:latin typeface="Segoe UI"/>
              </a:rPr>
              <a:t> kW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750" b="0" spc="100">
                <a:solidFill>
                  <a:srgbClr val="5F7178"/>
                </a:solidFill>
                <a:latin typeface="Consolas"/>
              </a:rPr>
              <a:t>MEASURED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5093208"/>
            <a:ext cx="1078992" cy="713232"/>
          </a:xfrm>
          <a:prstGeom prst="roundRect">
            <a:avLst>
              <a:gd name="adj" fmla="val 12000"/>
            </a:avLst>
          </a:prstGeom>
          <a:solidFill>
            <a:srgbClr val="0B1013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5184648"/>
            <a:ext cx="877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EF0"/>
                </a:solidFill>
                <a:latin typeface="Consolas"/>
              </a:rPr>
              <a:t>0.32</a:t>
            </a:r>
            <a:r>
              <a:rPr sz="900" b="0">
                <a:solidFill>
                  <a:srgbClr val="E8EEF0"/>
                </a:solidFill>
                <a:latin typeface="Segoe UI"/>
              </a:rPr>
              <a:t> kW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750" b="0" spc="100">
                <a:solidFill>
                  <a:srgbClr val="5F7178"/>
                </a:solidFill>
                <a:latin typeface="Consolas"/>
              </a:rPr>
              <a:t>AI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1552" y="5093208"/>
            <a:ext cx="1078992" cy="713232"/>
          </a:xfrm>
          <a:prstGeom prst="roundRect">
            <a:avLst>
              <a:gd name="adj" fmla="val 12000"/>
            </a:avLst>
          </a:prstGeom>
          <a:solidFill>
            <a:srgbClr val="0B1013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5184648"/>
            <a:ext cx="877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4D5E"/>
                </a:solidFill>
                <a:latin typeface="Consolas"/>
              </a:rPr>
              <a:t>3.08</a:t>
            </a:r>
            <a:r>
              <a:rPr sz="900" b="0">
                <a:solidFill>
                  <a:srgbClr val="FF4D5E"/>
                </a:solidFill>
                <a:latin typeface="Segoe UI"/>
              </a:rPr>
              <a:t> kW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750" b="0" spc="100">
                <a:solidFill>
                  <a:srgbClr val="5F7178"/>
                </a:solidFill>
                <a:latin typeface="Consolas"/>
              </a:rPr>
              <a:t>UNACCOUNTED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spc="100">
                <a:solidFill>
                  <a:srgbClr val="1C6A74"/>
                </a:solidFill>
                <a:latin typeface="Consolas"/>
              </a:rPr>
              <a:t>01   </a:t>
            </a:r>
            <a:r>
              <a:rPr sz="1250" b="0" spc="260">
                <a:solidFill>
                  <a:srgbClr val="34C8E0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Segoe UI Semibold"/>
              </a:rPr>
              <a:t>Why the grid is blind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9BA1"/>
                </a:solidFill>
                <a:latin typeface="Segoe UI"/>
              </a:rPr>
              <a:t>Cable and transformer losses are real, and they rise with heat and load. A fixed threshold cries wolf all summer — so operators mute it, and real theft hides in the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64008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E8EEF0"/>
                </a:solidFill>
                <a:latin typeface="Segoe UI"/>
              </a:rPr>
              <a:t>A brick-kiln, a workshop, a battery of hair-dryers hooked past the meter — the transformer feels it as </a:t>
            </a:r>
            <a:r>
              <a:rPr sz="2300" b="1">
                <a:solidFill>
                  <a:srgbClr val="F4A63B"/>
                </a:solidFill>
                <a:latin typeface="Segoe UI"/>
              </a:rPr>
              <a:t>“more loss.”</a:t>
            </a:r>
            <a:r>
              <a:rPr sz="2300" b="1">
                <a:solidFill>
                  <a:srgbClr val="E8EEF0"/>
                </a:solidFill>
                <a:latin typeface="Segoe UI"/>
              </a:rPr>
              <a:t> Without context, every hot afternoon looks like theft, and every theft looks like a hot afternoon.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88036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4D5E"/>
                </a:solidFill>
                <a:latin typeface="Consolas"/>
              </a:rPr>
              <a:t>~30%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of generated power lost to NTL in the worst-hit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93192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C8E0"/>
                </a:solidFill>
                <a:latin typeface="Consolas"/>
              </a:rPr>
              <a:t>7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independent inputs the model weighs — not temperature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983479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Consolas"/>
              </a:rPr>
              <a:t>3 beats</a:t>
            </a:r>
          </a:p>
          <a:p>
            <a:pPr algn="l">
              <a:lnSpc>
                <a:spcPct val="120000"/>
              </a:lnSpc>
              <a:spcBef>
                <a:spcPts val="10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is all it takes to show a judge the difference,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spc="100">
                <a:solidFill>
                  <a:srgbClr val="1C6A74"/>
                </a:solidFill>
                <a:latin typeface="Consolas"/>
              </a:rPr>
              <a:t>02   </a:t>
            </a:r>
            <a:r>
              <a:rPr sz="1250" b="0" spc="260">
                <a:solidFill>
                  <a:srgbClr val="34C8E0"/>
                </a:solidFill>
                <a:latin typeface="Consolas"/>
              </a:rPr>
              <a:t>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Segoe UI Semibold"/>
              </a:rPr>
              <a:t>Separating heat from theft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9BA1"/>
                </a:solidFill>
                <a:latin typeface="Segoe UI"/>
              </a:rPr>
              <a:t>Same transformer, three readings. The AI baseline rises with the heat — so the middle case raises </a:t>
            </a:r>
            <a:r>
              <a:rPr sz="1500" b="1">
                <a:solidFill>
                  <a:srgbClr val="F4A63B"/>
                </a:solidFill>
                <a:latin typeface="Segoe UI"/>
              </a:rPr>
              <a:t>no</a:t>
            </a:r>
            <a:r>
              <a:rPr sz="1500" b="0">
                <a:solidFill>
                  <a:srgbClr val="8A9BA1"/>
                </a:solidFill>
                <a:latin typeface="Segoe UI"/>
              </a:rPr>
              <a:t> alarm. Only the third leaves an unexplained residual. This is the whole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3538728" cy="3566160"/>
          </a:xfrm>
          <a:prstGeom prst="roundRect">
            <a:avLst>
              <a:gd name="adj" fmla="val 5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41148" cy="356616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35224"/>
            <a:ext cx="3081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spc="140">
                <a:solidFill>
                  <a:srgbClr val="3DDC84"/>
                </a:solidFill>
                <a:latin typeface="Consolas"/>
              </a:rPr>
              <a:t>●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00984"/>
            <a:ext cx="3081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EEF0"/>
                </a:solidFill>
                <a:latin typeface="Segoe UI"/>
              </a:rPr>
              <a:t>Baseline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21608"/>
            <a:ext cx="30358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BA1"/>
                </a:solidFill>
                <a:latin typeface="Segoe UI"/>
              </a:rPr>
              <a:t>Registered demand, clean waveform. Energy balance 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29900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load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6.85 kW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power factor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0.98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residual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−0.17 kW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probability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697480"/>
            <a:ext cx="3538728" cy="3566160"/>
          </a:xfrm>
          <a:prstGeom prst="roundRect">
            <a:avLst>
              <a:gd name="adj" fmla="val 5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2697480"/>
            <a:ext cx="41148" cy="3566160"/>
          </a:xfrm>
          <a:prstGeom prst="rect">
            <a:avLst/>
          </a:prstGeom>
          <a:solidFill>
            <a:srgbClr val="F4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935224"/>
            <a:ext cx="3081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spc="140">
                <a:solidFill>
                  <a:srgbClr val="F4A63B"/>
                </a:solidFill>
                <a:latin typeface="Consolas"/>
              </a:rPr>
              <a:t>● TECHNICAL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300984"/>
            <a:ext cx="3081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EEF0"/>
                </a:solidFill>
                <a:latin typeface="Segoe UI"/>
              </a:rPr>
              <a:t>Hot day, 45 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3721608"/>
            <a:ext cx="30358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BA1"/>
                </a:solidFill>
                <a:latin typeface="Segoe UI"/>
              </a:rPr>
              <a:t>Loss climbs — but the model expects it. R rises with heat. No false alarm.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4754880"/>
            <a:ext cx="29900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load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7.00 kW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AI baseline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↑ tracks temp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residual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−0.15 kW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probability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2697480"/>
            <a:ext cx="3538728" cy="3566160"/>
          </a:xfrm>
          <a:prstGeom prst="roundRect">
            <a:avLst>
              <a:gd name="adj" fmla="val 5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2697480"/>
            <a:ext cx="41148" cy="356616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2935224"/>
            <a:ext cx="3081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spc="140">
                <a:solidFill>
                  <a:srgbClr val="FF4D5E"/>
                </a:solidFill>
                <a:latin typeface="Consolas"/>
              </a:rPr>
              <a:t>● THEFT SUSPECTED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300984"/>
            <a:ext cx="3081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EEF0"/>
                </a:solidFill>
                <a:latin typeface="Segoe UI"/>
              </a:rPr>
              <a:t>Unregistered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721608"/>
            <a:ext cx="30358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BA1"/>
                </a:solidFill>
                <a:latin typeface="Segoe UI"/>
              </a:rPr>
              <a:t>+3.4 kW draw, PF collapses, THD spikes. Baseline stays flat — residual explodes.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4754880"/>
            <a:ext cx="29900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load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10.2 kW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power factor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0">
                <a:solidFill>
                  <a:srgbClr val="CDD8DB"/>
                </a:solidFill>
                <a:latin typeface="Consolas"/>
              </a:rPr>
              <a:t>0.66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residual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1">
                <a:solidFill>
                  <a:srgbClr val="FF4D5E"/>
                </a:solidFill>
                <a:latin typeface="Consolas"/>
              </a:rPr>
              <a:t>+3.08 kW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F7178"/>
                </a:solidFill>
                <a:latin typeface="Consolas"/>
              </a:rPr>
              <a:t>probability</a:t>
            </a:r>
            <a:r>
              <a:rPr sz="1400" b="0">
                <a:solidFill>
                  <a:srgbClr val="E8EEF0"/>
                </a:solidFill>
                <a:latin typeface="Segoe UI"/>
              </a:rPr>
              <a:t>    </a:t>
            </a:r>
            <a:r>
              <a:rPr sz="1200" b="1">
                <a:solidFill>
                  <a:srgbClr val="FF4D5E"/>
                </a:solidFill>
                <a:latin typeface="Consolas"/>
              </a:rPr>
              <a:t>94%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spc="100">
                <a:solidFill>
                  <a:srgbClr val="1C6A74"/>
                </a:solidFill>
                <a:latin typeface="Consolas"/>
              </a:rPr>
              <a:t>03   </a:t>
            </a:r>
            <a:r>
              <a:rPr sz="1250" b="0" spc="260">
                <a:solidFill>
                  <a:srgbClr val="34C8E0"/>
                </a:solidFill>
                <a:latin typeface="Consolas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Segoe UI Semibold"/>
              </a:rPr>
              <a:t>Multi-factor, and it shows its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9BA1"/>
                </a:solidFill>
                <a:latin typeface="Segoe UI"/>
              </a:rPr>
              <a:t>A temperature-only model reads as a toy. Ours weighs seven signals; a Random-Forest learns what natural loss should be, and the verdict names every reason it fired.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spc="160">
                <a:solidFill>
                  <a:srgbClr val="34C8E0"/>
                </a:solidFill>
                <a:latin typeface="Consolas"/>
              </a:rPr>
              <a:t>LEARNED FEATURE IMPORTANCE · TECHNICAL-LOSS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D8DB"/>
                </a:solidFill>
                <a:latin typeface="Consolas"/>
              </a:rPr>
              <a:t>load_w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3241548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41548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20040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0.58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D8DB"/>
                </a:solidFill>
                <a:latin typeface="Consolas"/>
              </a:rPr>
              <a:t>temp_c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625596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03120" y="3625596"/>
            <a:ext cx="1289304" cy="146304"/>
          </a:xfrm>
          <a:prstGeom prst="roundRect">
            <a:avLst>
              <a:gd name="adj" fmla="val 50000"/>
            </a:avLst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358444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0.27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68496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D8DB"/>
                </a:solidFill>
                <a:latin typeface="Consolas"/>
              </a:rPr>
              <a:t>current_a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4009644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03120" y="4009644"/>
            <a:ext cx="713232" cy="146304"/>
          </a:xfrm>
          <a:prstGeom prst="roundRect">
            <a:avLst>
              <a:gd name="adj" fmla="val 50000"/>
            </a:avLst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396849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52544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D8DB"/>
                </a:solidFill>
                <a:latin typeface="Consolas"/>
              </a:rPr>
              <a:t>hour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4393692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03120" y="4393692"/>
            <a:ext cx="109728" cy="146304"/>
          </a:xfrm>
          <a:prstGeom prst="roundRect">
            <a:avLst>
              <a:gd name="adj" fmla="val 50000"/>
            </a:avLst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4352544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0.002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3659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D8DB"/>
                </a:solidFill>
                <a:latin typeface="Consolas"/>
              </a:rPr>
              <a:t>day_of_week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4777740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03120" y="4777740"/>
            <a:ext cx="82296" cy="146304"/>
          </a:xfrm>
          <a:prstGeom prst="roundRect">
            <a:avLst>
              <a:gd name="adj" fmla="val 50000"/>
            </a:avLst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736592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0.001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D8DB"/>
                </a:solidFill>
                <a:latin typeface="Consolas"/>
              </a:rPr>
              <a:t>voltage_v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5161788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03120" y="5161788"/>
            <a:ext cx="82296" cy="146304"/>
          </a:xfrm>
          <a:prstGeom prst="roundRect">
            <a:avLst>
              <a:gd name="adj" fmla="val 50000"/>
            </a:avLst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512064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046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D8DB"/>
                </a:solidFill>
                <a:latin typeface="Consolas"/>
              </a:rPr>
              <a:t>rated_kva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5545836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1519"/>
          </a:solidFill>
          <a:ln w="9525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03120" y="5545836"/>
            <a:ext cx="82296" cy="146304"/>
          </a:xfrm>
          <a:prstGeom prst="roundRect">
            <a:avLst>
              <a:gd name="adj" fmla="val 50000"/>
            </a:avLst>
          </a:prstGeom>
          <a:solidFill>
            <a:srgbClr val="34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550468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BA1"/>
                </a:solidFill>
                <a:latin typeface="Consolas"/>
              </a:rPr>
              <a:t>0.001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spc="160">
                <a:solidFill>
                  <a:srgbClr val="34C8E0"/>
                </a:solidFill>
                <a:latin typeface="Consolas"/>
              </a:rPr>
              <a:t>DETECTION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2004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C8E0"/>
                </a:solidFill>
                <a:latin typeface="Consolas"/>
              </a:rPr>
              <a:t>①  </a:t>
            </a:r>
            <a:r>
              <a:rPr sz="1350" b="1">
                <a:solidFill>
                  <a:srgbClr val="E8EEF0"/>
                </a:solidFill>
                <a:latin typeface="Segoe UI"/>
              </a:rPr>
              <a:t>Energy balance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Segoe UI"/>
              </a:rPr>
              <a:t>      feeder power − registered meters = measured loss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0390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C8E0"/>
                </a:solidFill>
                <a:latin typeface="Consolas"/>
              </a:rPr>
              <a:t>②  </a:t>
            </a:r>
            <a:r>
              <a:rPr sz="1350" b="1">
                <a:solidFill>
                  <a:srgbClr val="E8EEF0"/>
                </a:solidFill>
                <a:latin typeface="Segoe UI"/>
              </a:rPr>
              <a:t>AI technical-loss baseline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Segoe UI"/>
              </a:rPr>
              <a:t>      predicts normal loss now → residual = measured − expected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07408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C8E0"/>
                </a:solidFill>
                <a:latin typeface="Consolas"/>
              </a:rPr>
              <a:t>③  </a:t>
            </a:r>
            <a:r>
              <a:rPr sz="1350" b="1">
                <a:solidFill>
                  <a:srgbClr val="E8EEF0"/>
                </a:solidFill>
                <a:latin typeface="Segoe UI"/>
              </a:rPr>
              <a:t>Harmonics &amp; power factor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Segoe UI"/>
              </a:rPr>
              <a:t>      illegal loads distort the waveform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01091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C8E0"/>
                </a:solidFill>
                <a:latin typeface="Consolas"/>
              </a:rPr>
              <a:t>④  </a:t>
            </a:r>
            <a:r>
              <a:rPr sz="1350" b="1">
                <a:solidFill>
                  <a:srgbClr val="E8EEF0"/>
                </a:solidFill>
                <a:latin typeface="Segoe UI"/>
              </a:rPr>
              <a:t>Temporal anomaly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Segoe UI"/>
              </a:rPr>
              <a:t>      Isolation Forest flags draws that don't fit the curve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61441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C8E0"/>
                </a:solidFill>
                <a:latin typeface="Consolas"/>
              </a:rPr>
              <a:t>⑤  </a:t>
            </a:r>
            <a:r>
              <a:rPr sz="1350" b="1">
                <a:solidFill>
                  <a:srgbClr val="E8EEF0"/>
                </a:solidFill>
                <a:latin typeface="Segoe UI"/>
              </a:rPr>
              <a:t>Fusion + explainable verdict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150" b="0">
                <a:solidFill>
                  <a:srgbClr val="8A9BA1"/>
                </a:solidFill>
                <a:latin typeface="Segoe UI"/>
              </a:rPr>
              <a:t>      probability, reasons checklist, estimated stolen kW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spc="100">
                <a:solidFill>
                  <a:srgbClr val="1C6A74"/>
                </a:solidFill>
                <a:latin typeface="Consolas"/>
              </a:rPr>
              <a:t>04   </a:t>
            </a:r>
            <a:r>
              <a:rPr sz="1250" b="0" spc="260">
                <a:solidFill>
                  <a:srgbClr val="34C8E0"/>
                </a:solidFill>
                <a:latin typeface="Consolas"/>
              </a:rPr>
              <a:t>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Segoe UI Semibold"/>
              </a:rPr>
              <a:t>From breadboard to busbar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9BA1"/>
                </a:solidFill>
                <a:latin typeface="Segoe UI"/>
              </a:rPr>
              <a:t>A real edge node, not a slide. Current transformer → signal conditioning → ESP32 → a strict, signed telemetry contract the backend enforces on every packet.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900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34C8E0"/>
                </a:solidFill>
                <a:latin typeface="Consolas"/>
              </a:rPr>
              <a:t>EDGE NODE —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644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EEF0"/>
                </a:solidFill>
                <a:latin typeface="Segoe UI"/>
              </a:rPr>
              <a:t>ESP32 + split-core 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SCT-013-000 clamp, 100 A : 50 mA, non-invasive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33 Ω burden + 1.65 V bias into the ADC — measured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EmonLib RMS, calibration ≈ 60.6, NTP-timestamped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Posts contract-valid JSON with a bearer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78892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9900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34C8E0"/>
                </a:solidFill>
                <a:latin typeface="Consolas"/>
              </a:rPr>
              <a:t>PRODUCTION —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2644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EEF0"/>
                </a:solidFill>
                <a:latin typeface="Segoe UI"/>
              </a:rPr>
              <a:t>Kiosk-grade sensing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70332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Rogowski coils on the LV busbar, IP65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LoRaWAN backhaul — no field Wi-Fi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TinyML on-device: send only on theft (−99% bw)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Theft-location triangulation across feeders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10912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7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34C8E0"/>
                </a:solidFill>
                <a:latin typeface="Consola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EEF0"/>
                </a:solidFill>
                <a:latin typeface="Segoe UI"/>
              </a:rPr>
              <a:t>FastAPI · Redis · Celery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Strict JSON-Schema contract: bad body → 422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Bad token → 401, every packet authenticated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Inline or worker detection — same verdict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Live map + verdicts over WebSocket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5010912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521207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34C8E0"/>
                </a:solidFill>
                <a:latin typeface="Consolas"/>
              </a:rPr>
              <a:t>THE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5486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EEF0"/>
                </a:solidFill>
                <a:latin typeface="Segoe UI"/>
              </a:rPr>
              <a:t>An operator's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5925312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Every transformer on a map: green / amber / red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Big probability + reasons checklist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One tap: dispatch inspection, or dismiss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6A74"/>
                </a:solidFill>
                <a:latin typeface="Consolas"/>
              </a:rPr>
              <a:t>›  </a:t>
            </a:r>
            <a:r>
              <a:rPr sz="1150" b="0">
                <a:solidFill>
                  <a:srgbClr val="C3D0D4"/>
                </a:solidFill>
                <a:latin typeface="Segoe UI"/>
              </a:rPr>
              <a:t>2 s polling fallback if the socket drops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spc="100">
                <a:solidFill>
                  <a:srgbClr val="1C6A74"/>
                </a:solidFill>
                <a:latin typeface="Consolas"/>
              </a:rPr>
              <a:t>05   </a:t>
            </a:r>
            <a:r>
              <a:rPr sz="1250" b="0" spc="260">
                <a:solidFill>
                  <a:srgbClr val="34C8E0"/>
                </a:solidFill>
                <a:latin typeface="Consolas"/>
              </a:rPr>
              <a:t>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Segoe UI Semibold"/>
              </a:rPr>
              <a:t>A business the ministry funds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9BA1"/>
                </a:solidFill>
                <a:latin typeface="Segoe UI"/>
              </a:rPr>
              <a:t>We don't sell software they have to justify — we take a share of the energy we recover. The first month of caught theft pays for the kiosk.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6324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4D5E"/>
                </a:solidFill>
                <a:latin typeface="Consolas"/>
              </a:rPr>
              <a:t>≈ 30B EGP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947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annual NTL loss in Egypt — the pool we recover against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278892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306324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DDC84"/>
                </a:solidFill>
                <a:latin typeface="Consolas"/>
              </a:rPr>
              <a:t>&lt; 1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4" y="37947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ROI per instrumented kiosk at typical recovery 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278892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10161A"/>
          </a:solidFill>
          <a:ln w="12700">
            <a:solidFill>
              <a:srgbClr val="1E2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06324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4C8E0"/>
                </a:solidFill>
                <a:latin typeface="Consolas"/>
              </a:rPr>
              <a:t>SaaS + HaaS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94760"/>
            <a:ext cx="2990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BA1"/>
                </a:solidFill>
                <a:latin typeface="Segoe UI"/>
              </a:rPr>
              <a:t>hardware-as-a-service + platform, or % of recovered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EEF0"/>
                </a:solidFill>
                <a:latin typeface="Segoe UI"/>
              </a:rPr>
              <a:t>Customer: </a:t>
            </a:r>
            <a:r>
              <a:rPr sz="1500" b="0">
                <a:solidFill>
                  <a:srgbClr val="C3D0D4"/>
                </a:solidFill>
                <a:latin typeface="Segoe UI"/>
              </a:rPr>
              <a:t>distribution companies and the Ministry of Electricity.   </a:t>
            </a:r>
            <a:r>
              <a:rPr sz="1500" b="1">
                <a:solidFill>
                  <a:srgbClr val="E8EEF0"/>
                </a:solidFill>
                <a:latin typeface="Segoe UI"/>
              </a:rPr>
              <a:t>Wedge: </a:t>
            </a:r>
            <a:r>
              <a:rPr sz="1500" b="0">
                <a:solidFill>
                  <a:srgbClr val="C3D0D4"/>
                </a:solidFill>
                <a:latin typeface="Segoe UI"/>
              </a:rPr>
              <a:t>one region, a few hundred kiosks, measured recovery.   </a:t>
            </a:r>
            <a:r>
              <a:rPr sz="1500" b="1">
                <a:solidFill>
                  <a:srgbClr val="E8EEF0"/>
                </a:solidFill>
                <a:latin typeface="Segoe UI"/>
              </a:rPr>
              <a:t>Moat: </a:t>
            </a:r>
            <a:r>
              <a:rPr sz="1500" b="0">
                <a:solidFill>
                  <a:srgbClr val="C3D0D4"/>
                </a:solidFill>
                <a:latin typeface="Segoe UI"/>
              </a:rPr>
              <a:t>the labelled theft data we accumulate makes every next region's model sharper — a data advantage a fixed-threshold competitor can never catch.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spc="100">
                <a:solidFill>
                  <a:srgbClr val="1C6A74"/>
                </a:solidFill>
                <a:latin typeface="Consolas"/>
              </a:rPr>
              <a:t>06   </a:t>
            </a:r>
            <a:r>
              <a:rPr sz="1250" b="0" spc="260">
                <a:solidFill>
                  <a:srgbClr val="34C8E0"/>
                </a:solidFill>
                <a:latin typeface="Consolas"/>
              </a:rPr>
              <a:t>DEPLOYMENT · KAFR EL-SHEIKH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Segoe UI Semibold"/>
              </a:rPr>
              <a:t>Onto the real iron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A9BA1"/>
                </a:solidFill>
                <a:latin typeface="Segoe UI"/>
              </a:rPr>
              <a:t>The field target is a sealed distribution kiosk (RMU). We retrofit it non-invasively on the low-voltage side — no outage, nothing bolted to the 11 kV.</a:t>
            </a:r>
          </a:p>
        </p:txBody>
      </p:sp>
      <p:pic>
        <p:nvPicPr>
          <p:cNvPr id="6" name="Picture 5" descr="kio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3474720" cy="3026369"/>
          </a:xfrm>
          <a:prstGeom prst="rect">
            <a:avLst/>
          </a:prstGeom>
          <a:ln w="15875">
            <a:solidFill>
              <a:srgbClr val="2A3A41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22960" y="58064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F7178"/>
                </a:solidFill>
                <a:latin typeface="Consolas"/>
              </a:rPr>
              <a:t>Distribution kiosk (RMU) · Kafr El-Sheikh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88036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Wrap 3 Rogowski coils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around the LV busbars — one per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666744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IP65 edge node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custom PCB inside the panel; antenna routed outside the metal 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45312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MV chamber never touched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no galvanic contact, no feeder disconnected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23951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Consolas"/>
              </a:rPr>
              <a:t>✓  </a:t>
            </a:r>
            <a:r>
              <a:rPr sz="1600" b="1">
                <a:solidFill>
                  <a:srgbClr val="E8EEF0"/>
                </a:solidFill>
                <a:latin typeface="Segoe UI"/>
              </a:rPr>
              <a:t>~30 min &amp; reversible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400"/>
              </a:spcAft>
            </a:pPr>
            <a:r>
              <a:rPr sz="1300" b="0">
                <a:solidFill>
                  <a:srgbClr val="8A9BA1"/>
                </a:solidFill>
                <a:latin typeface="Segoe UI"/>
              </a:rPr>
              <a:t>      zero service interruption — unclip and it's as it was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spc="100">
                <a:solidFill>
                  <a:srgbClr val="1C6A74"/>
                </a:solidFill>
                <a:latin typeface="Consolas"/>
              </a:rPr>
              <a:t>07   </a:t>
            </a:r>
            <a:r>
              <a:rPr sz="1250" b="0" spc="260">
                <a:solidFill>
                  <a:srgbClr val="34C8E0"/>
                </a:solidFill>
                <a:latin typeface="Consolas"/>
              </a:rPr>
              <a:t>THE PRODUCT ·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8EEF0"/>
                </a:solidFill>
                <a:latin typeface="Segoe UI Semibold"/>
              </a:rPr>
              <a:t>Running, not rendered</a:t>
            </a:r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4846320" cy="4710017"/>
          </a:xfrm>
          <a:prstGeom prst="rect">
            <a:avLst/>
          </a:prstGeom>
          <a:ln w="15875">
            <a:solidFill>
              <a:srgbClr val="2A3A41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943600" y="228600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4D5E"/>
                </a:solidFill>
                <a:latin typeface="Consolas"/>
              </a:rPr>
              <a:t>94%</a:t>
            </a:r>
            <a:r>
              <a:rPr sz="1400" b="0">
                <a:solidFill>
                  <a:srgbClr val="8A9BA1"/>
                </a:solidFill>
                <a:latin typeface="Segoe UI"/>
              </a:rPr>
              <a:t>  live theft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38328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4C8E0"/>
                </a:solidFill>
                <a:latin typeface="Consolas"/>
              </a:rPr>
              <a:t>›  </a:t>
            </a:r>
            <a:r>
              <a:rPr sz="1400" b="0">
                <a:solidFill>
                  <a:srgbClr val="C3D0D4"/>
                </a:solidFill>
                <a:latin typeface="Segoe UI"/>
              </a:rPr>
              <a:t>Reasons checklist — 5/5 independent signals fired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950208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4C8E0"/>
                </a:solidFill>
                <a:latin typeface="Consolas"/>
              </a:rPr>
              <a:t>›  </a:t>
            </a:r>
            <a:r>
              <a:rPr sz="1400" b="0">
                <a:solidFill>
                  <a:srgbClr val="C3D0D4"/>
                </a:solidFill>
                <a:latin typeface="Segoe UI"/>
              </a:rPr>
              <a:t>Colour-coded fleet map — green / amber / red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517136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4C8E0"/>
                </a:solidFill>
                <a:latin typeface="Consolas"/>
              </a:rPr>
              <a:t>›  </a:t>
            </a:r>
            <a:r>
              <a:rPr sz="1400" b="0">
                <a:solidFill>
                  <a:srgbClr val="C3D0D4"/>
                </a:solidFill>
                <a:latin typeface="Segoe UI"/>
              </a:rPr>
              <a:t>Measured-loss trend + one-tap dispatch to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221224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F7178"/>
                </a:solidFill>
                <a:latin typeface="Segoe UI"/>
              </a:rPr>
              <a:t>Every figure in this deck comes straight out of this running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spc="300">
                <a:solidFill>
                  <a:srgbClr val="34C8E0"/>
                </a:solidFill>
                <a:latin typeface="Consolas"/>
              </a:rPr>
              <a:t>THE PITCH,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E8EEF0"/>
                </a:solidFill>
                <a:latin typeface="Segoe UI Semibold"/>
              </a:rPr>
              <a:t>We turn a blind meter reading into
a decision an inspector can act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480560"/>
            <a:ext cx="7406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A9BA1"/>
                </a:solidFill>
                <a:latin typeface="Segoe UI"/>
              </a:rPr>
              <a:t>Working edge node, real trained model, explainable verdict, and a demo that lands in three clicks. Built in Kafr El-Sheikh — to be deployed across the grid.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spc="150">
                <a:solidFill>
                  <a:srgbClr val="5F7178"/>
                </a:solidFill>
                <a:latin typeface="Consolas"/>
              </a:rPr>
              <a:t>NORMAL   ·   TECHNICAL_LOSS   ·   NTL_THEFT_SUSPECTED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