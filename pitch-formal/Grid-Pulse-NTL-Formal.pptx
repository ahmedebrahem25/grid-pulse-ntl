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 spc="180">
                <a:solidFill>
                  <a:srgbClr val="A3242B"/>
                </a:solidFill>
                <a:latin typeface="Segoe UI"/>
              </a:rPr>
              <a:t>CONFIDENTIAL</a:t>
            </a:r>
            <a:r>
              <a:rPr sz="1150" b="0" i="0" spc="180">
                <a:solidFill>
                  <a:srgbClr val="5B6B7A"/>
                </a:solidFill>
                <a:latin typeface="Segoe UI"/>
              </a:rPr>
              <a:t>   ·   INVESTMENT &amp; DEPLOYMENT PROPOSAL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0F2A4A"/>
                </a:solidFill>
                <a:latin typeface="Georgia"/>
              </a:rPr>
              <a:t>Autonomous Detection of Non-Technical Loss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0F2A4A"/>
                </a:solidFill>
                <a:latin typeface="Georgia"/>
              </a:rPr>
              <a:t>on the Egyptian Distribution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5B6B7A"/>
                </a:solidFill>
                <a:latin typeface="Georgia"/>
              </a:rPr>
              <a:t>An AI edge-and-cloud system that distinguishes electricity theft from the natural losses of heat and load — and localizes it to the transformer, with explainable evidence.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892040"/>
            <a:ext cx="26060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50749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A3242B"/>
                </a:solidFill>
                <a:latin typeface="Consolas"/>
              </a:rPr>
              <a:t>EGP 25–35B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553212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7A"/>
                </a:solidFill>
                <a:latin typeface="Segoe UI"/>
              </a:rPr>
              <a:t>annual non-technical loss (Egypt)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4892040"/>
            <a:ext cx="26060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7" y="50749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F2A4A"/>
                </a:solidFill>
                <a:latin typeface="Consolas"/>
              </a:rPr>
              <a:t>94%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553212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7A"/>
                </a:solidFill>
                <a:latin typeface="Segoe UI"/>
              </a:rPr>
              <a:t>theft-detection confidence, demonstrated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892040"/>
            <a:ext cx="26060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50749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F2A4A"/>
                </a:solidFill>
                <a:latin typeface="Consolas"/>
              </a:rPr>
              <a:t>&lt; 2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553212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7A"/>
                </a:solidFill>
                <a:latin typeface="Segoe UI"/>
              </a:rPr>
              <a:t>utility payback per node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4892040"/>
            <a:ext cx="26060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62288" y="50749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F2A4A"/>
                </a:solidFill>
                <a:latin typeface="Consolas"/>
              </a:rPr>
              <a:t>EGP 30M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2288" y="553212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7A"/>
                </a:solidFill>
                <a:latin typeface="Segoe UI"/>
              </a:rPr>
              <a:t>seed investment sought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E6F7A"/>
                </a:solidFill>
                <a:latin typeface="Consolas"/>
              </a:rPr>
              <a:t>01    </a:t>
            </a:r>
            <a:r>
              <a:rPr sz="1150" b="1" i="0" spc="220">
                <a:solidFill>
                  <a:srgbClr val="1E6F7A"/>
                </a:solidFill>
                <a:latin typeface="Segoe UI"/>
              </a:rPr>
              <a:t>GRID-PULSE NTL · FORMAL PROPOSAL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457200" cy="27432"/>
          </a:xfrm>
          <a:prstGeom prst="rect">
            <a:avLst/>
          </a:prstGeom>
          <a:solidFill>
            <a:srgbClr val="1E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2A4A"/>
                </a:solidFill>
                <a:latin typeface="Georgia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6070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0233A"/>
                </a:solidFill>
                <a:latin typeface="Segoe UI"/>
              </a:rPr>
              <a:t>Grid-Pulse NTL is a business-to-government venture that recovers stolen electricity for distribution companies. A low-cost sensor on each distribution transformer measures the energy leaving it; the platform compares that against registered consumption and an AI-predicted technical (natural) loss, and reports the unexplained excess as suspected theft — with a probability, a reasons checklist, and an estimate of the kilowatts at risk.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  <a:spcAft>
                <a:spcPts val="400"/>
              </a:spcAft>
            </a:pPr>
            <a:r>
              <a:rPr sz="1500" b="0" i="0">
                <a:solidFill>
                  <a:srgbClr val="10233A"/>
                </a:solidFill>
                <a:latin typeface="Segoe UI"/>
              </a:rPr>
              <a:t>The commercial model aligns the company with the utility: a share of the energy recovered, atop a modest hardware and platform fee. At typical recovery rates a single node pays for itself in under two months. The system is built and demonstrated.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solidFill>
            <a:srgbClr val="EEF3F4"/>
          </a:solidFill>
          <a:ln w="9525">
            <a:solidFill>
              <a:srgbClr val="EEF3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892040"/>
            <a:ext cx="45720" cy="1371600"/>
          </a:xfrm>
          <a:prstGeom prst="rect">
            <a:avLst/>
          </a:prstGeom>
          <a:solidFill>
            <a:srgbClr val="1E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2A4A"/>
                </a:solidFill>
                <a:latin typeface="Segoe UI"/>
              </a:rPr>
              <a:t>The differentiator is not measurement — it is attribution. </a:t>
            </a:r>
            <a:r>
              <a:rPr sz="1450" b="0" i="0">
                <a:solidFill>
                  <a:srgbClr val="10233A"/>
                </a:solidFill>
                <a:latin typeface="Segoe UI"/>
              </a:rPr>
              <a:t>An AI baseline predicts how much loss is normal for the present heat and load, so only the genuinely unexplained remainder is flagged. This removes the false alarms that make simple meter-difference methods unusable in the Egyptian summer.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E6F7A"/>
                </a:solidFill>
                <a:latin typeface="Consolas"/>
              </a:rPr>
              <a:t>02    </a:t>
            </a:r>
            <a:r>
              <a:rPr sz="1150" b="1" i="0" spc="220">
                <a:solidFill>
                  <a:srgbClr val="1E6F7A"/>
                </a:solidFill>
                <a:latin typeface="Segoe UI"/>
              </a:rPr>
              <a:t>GRID-PULSE NTL · FORMAL PROPOSAL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457200" cy="27432"/>
          </a:xfrm>
          <a:prstGeom prst="rect">
            <a:avLst/>
          </a:prstGeom>
          <a:solidFill>
            <a:srgbClr val="1E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2A4A"/>
                </a:solidFill>
                <a:latin typeface="Georgia"/>
              </a:rPr>
              <a:t>The Problem: Non-Technical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6070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0233A"/>
                </a:solidFill>
                <a:latin typeface="Segoe UI"/>
              </a:rPr>
              <a:t>Distribution companies lose energy two ways. </a:t>
            </a:r>
            <a:r>
              <a:rPr sz="1500" b="1" i="0">
                <a:solidFill>
                  <a:srgbClr val="0F2A4A"/>
                </a:solidFill>
                <a:latin typeface="Segoe UI"/>
              </a:rPr>
              <a:t>Technical loss</a:t>
            </a:r>
            <a:r>
              <a:rPr sz="1500" b="0" i="0">
                <a:solidFill>
                  <a:srgbClr val="10233A"/>
                </a:solidFill>
                <a:latin typeface="Segoe UI"/>
              </a:rPr>
              <a:t> is physical — heat in cables and transformers — and rises with temperature and load. </a:t>
            </a:r>
            <a:r>
              <a:rPr sz="1500" b="1" i="0">
                <a:solidFill>
                  <a:srgbClr val="0F2A4A"/>
                </a:solidFill>
                <a:latin typeface="Segoe UI"/>
              </a:rPr>
              <a:t>Non-technical loss (NTL)</a:t>
            </a:r>
            <a:r>
              <a:rPr sz="1500" b="0" i="0">
                <a:solidFill>
                  <a:srgbClr val="10233A"/>
                </a:solidFill>
                <a:latin typeface="Segoe UI"/>
              </a:rPr>
              <a:t> is theft: illegal hooks, tampered meters, unmetered workshops and kilns. In Egypt, NTL is estimated at EGP 25–35 billion per year, and it worsens load-shedding by overloading transformers with demand no one is billed for.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  <a:spcAft>
                <a:spcPts val="400"/>
              </a:spcAft>
            </a:pPr>
            <a:r>
              <a:rPr sz="1500" b="0" i="0">
                <a:solidFill>
                  <a:srgbClr val="10233A"/>
                </a:solidFill>
                <a:latin typeface="Segoe UI"/>
              </a:rPr>
              <a:t>The operational difficulty: both losses present identically at the transformer, as “more loss.” A fixed threshold alarms on every hot afternoon and is ignored — leaving utilities with slow, tip-driven manual inspection.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E6F7A"/>
                </a:solidFill>
                <a:latin typeface="Consolas"/>
              </a:rPr>
              <a:t>03    </a:t>
            </a:r>
            <a:r>
              <a:rPr sz="1150" b="1" i="0" spc="220">
                <a:solidFill>
                  <a:srgbClr val="1E6F7A"/>
                </a:solidFill>
                <a:latin typeface="Segoe UI"/>
              </a:rPr>
              <a:t>GRID-PULSE NTL · FORMAL PROPOSAL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457200" cy="27432"/>
          </a:xfrm>
          <a:prstGeom prst="rect">
            <a:avLst/>
          </a:prstGeom>
          <a:solidFill>
            <a:srgbClr val="1E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2A4A"/>
                </a:solidFill>
                <a:latin typeface="Georgia"/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47548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0233A"/>
                </a:solidFill>
                <a:latin typeface="Segoe UI"/>
              </a:rPr>
              <a:t>Grid-Pulse runs a continuous energy balance at each transformer, predicts the expected technical loss for current conditions, and treats the difference as the candidate theft signal.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  <a:spcAft>
                <a:spcPts val="400"/>
              </a:spcAft>
            </a:pPr>
            <a:r>
              <a:rPr sz="1450" b="0" i="0">
                <a:solidFill>
                  <a:srgbClr val="10233A"/>
                </a:solidFill>
                <a:latin typeface="Segoe UI"/>
              </a:rPr>
              <a:t>That signal is confirmed or dampened by three independent lines of evidence — harmonic signature, power factor, and a longer-horizon energy accounting — before a verdict is issued.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  <a:spcAft>
                <a:spcPts val="400"/>
              </a:spcAft>
            </a:pPr>
            <a:r>
              <a:rPr sz="1450" b="0" i="0">
                <a:solidFill>
                  <a:srgbClr val="10233A"/>
                </a:solidFill>
                <a:latin typeface="Segoe UI"/>
              </a:rPr>
              <a:t>Every verdict is explainable: a probability, a checklist of the indicators that fired, the kilowatts unaccounted for, and a recommended action.</a:t>
            </a:r>
          </a:p>
        </p:txBody>
      </p:sp>
      <p:pic>
        <p:nvPicPr>
          <p:cNvPr id="7" name="Picture 6" descr="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783080"/>
            <a:ext cx="5669280" cy="5509832"/>
          </a:xfrm>
          <a:prstGeom prst="rect">
            <a:avLst/>
          </a:prstGeom>
          <a:ln w="12700">
            <a:solidFill>
              <a:srgbClr val="D9DEE3"/>
            </a:solidFill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5852160" y="640080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F2A4A"/>
                </a:solidFill>
                <a:latin typeface="Segoe UI"/>
              </a:rPr>
              <a:t>Figure 1. </a:t>
            </a:r>
            <a:r>
              <a:rPr sz="1050" b="0" i="0">
                <a:solidFill>
                  <a:srgbClr val="5B6B7A"/>
                </a:solidFill>
                <a:latin typeface="Segoe UI"/>
              </a:rPr>
              <a:t>The operator console — a demonstrated 94% theft verdict.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E6F7A"/>
                </a:solidFill>
                <a:latin typeface="Consolas"/>
              </a:rPr>
              <a:t>04    </a:t>
            </a:r>
            <a:r>
              <a:rPr sz="1150" b="1" i="0" spc="220">
                <a:solidFill>
                  <a:srgbClr val="1E6F7A"/>
                </a:solidFill>
                <a:latin typeface="Segoe UI"/>
              </a:rPr>
              <a:t>GRID-PULSE NTL · FORMAL PROPOSAL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457200" cy="27432"/>
          </a:xfrm>
          <a:prstGeom prst="rect">
            <a:avLst/>
          </a:prstGeom>
          <a:solidFill>
            <a:srgbClr val="1E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2A4A"/>
                </a:solidFill>
                <a:latin typeface="Georgia"/>
              </a:rPr>
              <a:t>Technology &amp;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6F7A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0F2A4A"/>
                </a:solidFill>
                <a:latin typeface="Segoe UI"/>
              </a:rPr>
              <a:t>Energy balance</a:t>
            </a:r>
          </a:p>
          <a:p>
            <a:pPr algn="l">
              <a:lnSpc>
                <a:spcPct val="120000"/>
              </a:lnSpc>
              <a:spcBef>
                <a:spcPts val="100"/>
              </a:spcBef>
              <a:spcAft>
                <a:spcPts val="400"/>
              </a:spcAft>
            </a:pPr>
            <a:r>
              <a:rPr sz="1150" b="0" i="0">
                <a:solidFill>
                  <a:srgbClr val="5B6B7A"/>
                </a:solidFill>
                <a:latin typeface="Segoe UI"/>
              </a:rPr>
              <a:t>     measured output less registered consumption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87168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6F7A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0F2A4A"/>
                </a:solidFill>
                <a:latin typeface="Segoe UI"/>
              </a:rPr>
              <a:t>AI technical-loss baseline</a:t>
            </a:r>
          </a:p>
          <a:p>
            <a:pPr algn="l">
              <a:lnSpc>
                <a:spcPct val="120000"/>
              </a:lnSpc>
              <a:spcBef>
                <a:spcPts val="100"/>
              </a:spcBef>
              <a:spcAft>
                <a:spcPts val="400"/>
              </a:spcAft>
            </a:pPr>
            <a:r>
              <a:rPr sz="1150" b="0" i="0">
                <a:solidFill>
                  <a:srgbClr val="5B6B7A"/>
                </a:solidFill>
                <a:latin typeface="Segoe UI"/>
              </a:rPr>
              <a:t>     Random-Forest over 7 features → expected natural 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45535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6F7A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0F2A4A"/>
                </a:solidFill>
                <a:latin typeface="Segoe UI"/>
              </a:rPr>
              <a:t>Harmonic signature (1D-CNN)</a:t>
            </a:r>
          </a:p>
          <a:p>
            <a:pPr algn="l">
              <a:lnSpc>
                <a:spcPct val="120000"/>
              </a:lnSpc>
              <a:spcBef>
                <a:spcPts val="100"/>
              </a:spcBef>
              <a:spcAft>
                <a:spcPts val="400"/>
              </a:spcAft>
            </a:pPr>
            <a:r>
              <a:rPr sz="1150" b="0" i="0">
                <a:solidFill>
                  <a:srgbClr val="5B6B7A"/>
                </a:solidFill>
                <a:latin typeface="Segoe UI"/>
              </a:rPr>
              <a:t>     clean / legit-industrial / illegal-bypass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03903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6F7A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0F2A4A"/>
                </a:solidFill>
                <a:latin typeface="Segoe UI"/>
              </a:rPr>
              <a:t>Transformer energy accounting</a:t>
            </a:r>
          </a:p>
          <a:p>
            <a:pPr algn="l">
              <a:lnSpc>
                <a:spcPct val="120000"/>
              </a:lnSpc>
              <a:spcBef>
                <a:spcPts val="100"/>
              </a:spcBef>
              <a:spcAft>
                <a:spcPts val="400"/>
              </a:spcAft>
            </a:pPr>
            <a:r>
              <a:rPr sz="1150" b="0" i="0">
                <a:solidFill>
                  <a:srgbClr val="5B6B7A"/>
                </a:solidFill>
                <a:latin typeface="Segoe UI"/>
              </a:rPr>
              <a:t>     excess loss over a horizon as corroborating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62271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6F7A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0F2A4A"/>
                </a:solidFill>
                <a:latin typeface="Segoe UI"/>
              </a:rPr>
              <a:t>Temporal anomaly</a:t>
            </a:r>
          </a:p>
          <a:p>
            <a:pPr algn="l">
              <a:lnSpc>
                <a:spcPct val="120000"/>
              </a:lnSpc>
              <a:spcBef>
                <a:spcPts val="100"/>
              </a:spcBef>
              <a:spcAft>
                <a:spcPts val="400"/>
              </a:spcAft>
            </a:pPr>
            <a:r>
              <a:rPr sz="1150" b="0" i="0">
                <a:solidFill>
                  <a:srgbClr val="5B6B7A"/>
                </a:solidFill>
                <a:latin typeface="Segoe UI"/>
              </a:rPr>
              <a:t>     Isolation-Forest on the consumption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39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6F7A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0F2A4A"/>
                </a:solidFill>
                <a:latin typeface="Segoe UI"/>
              </a:rPr>
              <a:t>Decision fusion &amp; XAI</a:t>
            </a:r>
          </a:p>
          <a:p>
            <a:pPr algn="l">
              <a:lnSpc>
                <a:spcPct val="120000"/>
              </a:lnSpc>
              <a:spcBef>
                <a:spcPts val="100"/>
              </a:spcBef>
              <a:spcAft>
                <a:spcPts val="400"/>
              </a:spcAft>
            </a:pPr>
            <a:r>
              <a:rPr sz="1150" b="0" i="0">
                <a:solidFill>
                  <a:srgbClr val="5B6B7A"/>
                </a:solidFill>
                <a:latin typeface="Segoe UI"/>
              </a:rPr>
              <a:t>     calibrated probability + reasons checklist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7830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120">
                <a:solidFill>
                  <a:srgbClr val="1E6F7A"/>
                </a:solidFill>
                <a:latin typeface="Segoe UI"/>
              </a:rPr>
              <a:t>MEASURED PERFORMANCE (held-out, synthetic)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286000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0233A"/>
                </a:solidFill>
                <a:latin typeface="Segoe UI"/>
              </a:rPr>
              <a:t>Theft 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2286000"/>
            <a:ext cx="1097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2A4A"/>
                </a:solidFill>
                <a:latin typeface="Consolas"/>
              </a:rPr>
              <a:t>1.00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2651760"/>
            <a:ext cx="4754880" cy="10972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761488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0233A"/>
                </a:solidFill>
                <a:latin typeface="Segoe UI"/>
              </a:rPr>
              <a:t>Theft 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761488"/>
            <a:ext cx="1097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2A4A"/>
                </a:solidFill>
                <a:latin typeface="Consolas"/>
              </a:rPr>
              <a:t>0.78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3127248"/>
            <a:ext cx="4754880" cy="10972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236976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0233A"/>
                </a:solidFill>
                <a:latin typeface="Segoe UI"/>
              </a:rPr>
              <a:t>F1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3236976"/>
            <a:ext cx="1097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2A4A"/>
                </a:solidFill>
                <a:latin typeface="Consolas"/>
              </a:rPr>
              <a:t>0.88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3602736"/>
            <a:ext cx="4754880" cy="10972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3712464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0233A"/>
                </a:solidFill>
                <a:latin typeface="Segoe UI"/>
              </a:rPr>
              <a:t>Brier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3712464"/>
            <a:ext cx="1097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2A4A"/>
                </a:solidFill>
                <a:latin typeface="Consolas"/>
              </a:rPr>
              <a:t>0.06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078224"/>
            <a:ext cx="4754880" cy="10972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18795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F2A4A"/>
                </a:solidFill>
                <a:latin typeface="Segoe UI"/>
              </a:rPr>
              <a:t>Legit-industrial false alarm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4187952"/>
            <a:ext cx="1097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6F7A"/>
                </a:solidFill>
                <a:latin typeface="Consolas"/>
              </a:rPr>
              <a:t>0.00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4553712"/>
            <a:ext cx="4754880" cy="10972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754879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5B6B7A"/>
                </a:solidFill>
                <a:latin typeface="Segoe UI"/>
              </a:rPr>
              <a:t>Models retrain on real utility meter data in production.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E6F7A"/>
                </a:solidFill>
                <a:latin typeface="Consolas"/>
              </a:rPr>
              <a:t>05    </a:t>
            </a:r>
            <a:r>
              <a:rPr sz="1150" b="1" i="0" spc="220">
                <a:solidFill>
                  <a:srgbClr val="1E6F7A"/>
                </a:solidFill>
                <a:latin typeface="Segoe UI"/>
              </a:rPr>
              <a:t>GRID-PULSE NTL · FORMAL PROPOSAL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457200" cy="27432"/>
          </a:xfrm>
          <a:prstGeom prst="rect">
            <a:avLst/>
          </a:prstGeom>
          <a:solidFill>
            <a:srgbClr val="1E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2A4A"/>
                </a:solidFill>
                <a:latin typeface="Georgia"/>
              </a:rPr>
              <a:t>Field Deployment</a:t>
            </a:r>
          </a:p>
        </p:txBody>
      </p:sp>
      <p:pic>
        <p:nvPicPr>
          <p:cNvPr id="6" name="Picture 5" descr="kio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3383280" cy="2946728"/>
          </a:xfrm>
          <a:prstGeom prst="rect">
            <a:avLst/>
          </a:prstGeom>
          <a:ln w="12700">
            <a:solidFill>
              <a:srgbClr val="D9DEE3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640080" y="484632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F2A4A"/>
                </a:solidFill>
                <a:latin typeface="Segoe UI"/>
              </a:rPr>
              <a:t>Figure 2. </a:t>
            </a:r>
            <a:r>
              <a:rPr sz="1050" b="0" i="0">
                <a:solidFill>
                  <a:srgbClr val="5B6B7A"/>
                </a:solidFill>
                <a:latin typeface="Segoe UI"/>
              </a:rPr>
              <a:t>Distribution kiosk (RMU), Kafr El-Sheikh.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69494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0233A"/>
                </a:solidFill>
                <a:latin typeface="Segoe UI"/>
              </a:rPr>
              <a:t>The field target is a sealed distribution kiosk (ring-main unit). Grid-Pulse retrofits it non-invasively, on the low-voltage side only: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400"/>
              </a:spcAft>
            </a:pPr>
            <a:r>
              <a:rPr sz="1300" b="0" i="0">
                <a:solidFill>
                  <a:srgbClr val="1E6F7A"/>
                </a:solidFill>
                <a:latin typeface="Segoe UI"/>
              </a:rPr>
              <a:t>—  </a:t>
            </a:r>
            <a:r>
              <a:rPr sz="1400" b="0" i="0">
                <a:solidFill>
                  <a:srgbClr val="10233A"/>
                </a:solidFill>
                <a:latin typeface="Segoe UI"/>
              </a:rPr>
              <a:t>Three Rogowski coils clipped around the LV busbars — one per phase.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400"/>
              </a:spcAft>
            </a:pPr>
            <a:r>
              <a:rPr sz="1300" b="0" i="0">
                <a:solidFill>
                  <a:srgbClr val="1E6F7A"/>
                </a:solidFill>
                <a:latin typeface="Segoe UI"/>
              </a:rPr>
              <a:t>—  </a:t>
            </a:r>
            <a:r>
              <a:rPr sz="1400" b="0" i="0">
                <a:solidFill>
                  <a:srgbClr val="10233A"/>
                </a:solidFill>
                <a:latin typeface="Segoe UI"/>
              </a:rPr>
              <a:t>An edge node in a weatherproof IP65 enclosure; antenna routed outside the shell.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400"/>
              </a:spcAft>
            </a:pPr>
            <a:r>
              <a:rPr sz="1300" b="0" i="0">
                <a:solidFill>
                  <a:srgbClr val="1E6F7A"/>
                </a:solidFill>
                <a:latin typeface="Segoe UI"/>
              </a:rPr>
              <a:t>—  </a:t>
            </a:r>
            <a:r>
              <a:rPr sz="1400" b="0" i="0">
                <a:solidFill>
                  <a:srgbClr val="10233A"/>
                </a:solidFill>
                <a:latin typeface="Segoe UI"/>
              </a:rPr>
              <a:t>The 11 kV chamber is never entered; no conductor cut; no feeder disconnected.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400"/>
              </a:spcAft>
            </a:pPr>
            <a:r>
              <a:rPr sz="1300" b="0" i="0">
                <a:solidFill>
                  <a:srgbClr val="1E6F7A"/>
                </a:solidFill>
                <a:latin typeface="Segoe UI"/>
              </a:rPr>
              <a:t>—  </a:t>
            </a:r>
            <a:r>
              <a:rPr sz="1400" b="0" i="0">
                <a:solidFill>
                  <a:srgbClr val="10233A"/>
                </a:solidFill>
                <a:latin typeface="Segoe UI"/>
              </a:rPr>
              <a:t>Fully reversible; ~30 minutes per kiosk; no service interruption.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400"/>
              </a:spcAft>
            </a:pPr>
            <a:r>
              <a:rPr sz="1300" b="0" i="0">
                <a:solidFill>
                  <a:srgbClr val="1E6F7A"/>
                </a:solidFill>
                <a:latin typeface="Segoe UI"/>
              </a:rPr>
              <a:t>—  </a:t>
            </a:r>
            <a:r>
              <a:rPr sz="1400" b="0" i="0">
                <a:solidFill>
                  <a:srgbClr val="10233A"/>
                </a:solidFill>
                <a:latin typeface="Segoe UI"/>
              </a:rPr>
              <a:t>Production: Rogowski coils + LoRaWAN/cellular, suitable for ~230,000 transformers.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E6F7A"/>
                </a:solidFill>
                <a:latin typeface="Consolas"/>
              </a:rPr>
              <a:t>06    </a:t>
            </a:r>
            <a:r>
              <a:rPr sz="1150" b="1" i="0" spc="220">
                <a:solidFill>
                  <a:srgbClr val="1E6F7A"/>
                </a:solidFill>
                <a:latin typeface="Segoe UI"/>
              </a:rPr>
              <a:t>GRID-PULSE NTL · FORMAL PROPOSAL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457200" cy="27432"/>
          </a:xfrm>
          <a:prstGeom prst="rect">
            <a:avLst/>
          </a:prstGeom>
          <a:solidFill>
            <a:srgbClr val="1E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2A4A"/>
                </a:solidFill>
                <a:latin typeface="Georgia"/>
              </a:rPr>
              <a:t>Market &amp; Competitive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0233A"/>
                </a:solidFill>
                <a:latin typeface="Segoe UI"/>
              </a:rPr>
              <a:t>Utilities fight theft today by manual audit, full smart-meter rollout, analytics on meter data, feeder monitoring, or fixed-threshold alarms. Each is slow, blind to cause, or dependent on a metering estate that costs billions to build.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  <a:spcAft>
                <a:spcPts val="400"/>
              </a:spcAft>
            </a:pPr>
            <a:r>
              <a:rPr sz="1500" b="1" i="0">
                <a:solidFill>
                  <a:srgbClr val="0F2A4A"/>
                </a:solidFill>
                <a:latin typeface="Segoe UI"/>
              </a:rPr>
              <a:t>Grid-Pulse occupies the position none of these hold: low capital cost, explainable, and effective on a grid that was never fully metered. </a:t>
            </a:r>
            <a:r>
              <a:rPr sz="1500" b="0" i="0">
                <a:solidFill>
                  <a:srgbClr val="10233A"/>
                </a:solidFill>
                <a:latin typeface="Segoe UI"/>
              </a:rPr>
              <a:t>One node observes a whole feeder of customers — a fraction of per-meter cost — and the AI baseline removes the false positives that make cheaper analytics unusable. Each verdict adds labelled theft data, a compounding advantage a fixed-threshold competitor cannot replicate.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E6F7A"/>
                </a:solidFill>
                <a:latin typeface="Consolas"/>
              </a:rPr>
              <a:t>07    </a:t>
            </a:r>
            <a:r>
              <a:rPr sz="1150" b="1" i="0" spc="220">
                <a:solidFill>
                  <a:srgbClr val="1E6F7A"/>
                </a:solidFill>
                <a:latin typeface="Segoe UI"/>
              </a:rPr>
              <a:t>GRID-PULSE NTL · FORMAL PROPOSAL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457200" cy="27432"/>
          </a:xfrm>
          <a:prstGeom prst="rect">
            <a:avLst/>
          </a:prstGeom>
          <a:solidFill>
            <a:srgbClr val="1E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2A4A"/>
                </a:solidFill>
                <a:latin typeface="Georgia"/>
              </a:rPr>
              <a:t>Business Model &amp; Financials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140">
                <a:solidFill>
                  <a:srgbClr val="1E6F7A"/>
                </a:solidFill>
                <a:latin typeface="Segoe UI"/>
              </a:rPr>
              <a:t>REVENUE STREAMS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2A4A"/>
                </a:solidFill>
                <a:latin typeface="Segoe UI"/>
              </a:rPr>
              <a:t>Hardware — EGP 6,000 / node</a:t>
            </a:r>
          </a:p>
          <a:p>
            <a:pPr algn="l">
              <a:lnSpc>
                <a:spcPct val="120000"/>
              </a:lnSpc>
              <a:spcBef>
                <a:spcPts val="100"/>
              </a:spcBef>
              <a:spcAft>
                <a:spcPts val="400"/>
              </a:spcAft>
            </a:pPr>
            <a:r>
              <a:rPr sz="1150" b="0" i="0">
                <a:solidFill>
                  <a:srgbClr val="5B6B7A"/>
                </a:solidFill>
                <a:latin typeface="Segoe UI"/>
              </a:rPr>
              <a:t>edge node + gateway share, at margin or leased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07208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2A4A"/>
                </a:solidFill>
                <a:latin typeface="Segoe UI"/>
              </a:rPr>
              <a:t>Platform — EGP 300 / node / month</a:t>
            </a:r>
          </a:p>
          <a:p>
            <a:pPr algn="l">
              <a:lnSpc>
                <a:spcPct val="120000"/>
              </a:lnSpc>
              <a:spcBef>
                <a:spcPts val="100"/>
              </a:spcBef>
              <a:spcAft>
                <a:spcPts val="400"/>
              </a:spcAft>
            </a:pPr>
            <a:r>
              <a:rPr sz="1150" b="0" i="0">
                <a:solidFill>
                  <a:srgbClr val="5B6B7A"/>
                </a:solidFill>
                <a:latin typeface="Segoe UI"/>
              </a:rPr>
              <a:t>detection, dashboard, verdicts, 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65576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2A4A"/>
                </a:solidFill>
                <a:latin typeface="Segoe UI"/>
              </a:rPr>
              <a:t>Recovery share — 15%</a:t>
            </a:r>
          </a:p>
          <a:p>
            <a:pPr algn="l">
              <a:lnSpc>
                <a:spcPct val="120000"/>
              </a:lnSpc>
              <a:spcBef>
                <a:spcPts val="100"/>
              </a:spcBef>
              <a:spcAft>
                <a:spcPts val="400"/>
              </a:spcAft>
            </a:pPr>
            <a:r>
              <a:rPr sz="1150" b="0" i="0">
                <a:solidFill>
                  <a:srgbClr val="5B6B7A"/>
                </a:solidFill>
                <a:latin typeface="Segoe UI"/>
              </a:rPr>
              <a:t>of verified recovered energy, first 24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2A4A"/>
                </a:solidFill>
                <a:latin typeface="Segoe UI"/>
              </a:rPr>
              <a:t>Unit economics: </a:t>
            </a:r>
            <a:r>
              <a:rPr sz="1300" b="0" i="0">
                <a:solidFill>
                  <a:srgbClr val="10233A"/>
                </a:solidFill>
                <a:latin typeface="Segoe UI"/>
              </a:rPr>
              <a:t>5-yr gross profit ≈ EGP 20,750 / node (LTV/CAC ≈ 8×); customer payback &lt; 2 months.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1E6F7A"/>
                </a:solidFill>
                <a:latin typeface="Consolas"/>
              </a:rPr>
              <a:t>EGP M</a:t>
            </a:r>
            <a:r>
              <a:rPr sz="1100" b="1">
                <a:solidFill>
                  <a:srgbClr val="1E6F7A"/>
                </a:solidFill>
                <a:latin typeface="Consolas"/>
              </a:rPr>
              <a:t>     Y1</a:t>
            </a:r>
            <a:r>
              <a:rPr sz="1100" b="1">
                <a:solidFill>
                  <a:srgbClr val="1E6F7A"/>
                </a:solidFill>
                <a:latin typeface="Consolas"/>
              </a:rPr>
              <a:t>     Y2</a:t>
            </a:r>
            <a:r>
              <a:rPr sz="1100" b="1">
                <a:solidFill>
                  <a:srgbClr val="1E6F7A"/>
                </a:solidFill>
                <a:latin typeface="Consolas"/>
              </a:rPr>
              <a:t>     Y3</a:t>
            </a:r>
            <a:r>
              <a:rPr sz="1100" b="1">
                <a:solidFill>
                  <a:srgbClr val="1E6F7A"/>
                </a:solidFill>
                <a:latin typeface="Consolas"/>
              </a:rPr>
              <a:t>     Y4</a:t>
            </a:r>
            <a:r>
              <a:rPr sz="1100" b="1">
                <a:solidFill>
                  <a:srgbClr val="1E6F7A"/>
                </a:solidFill>
                <a:latin typeface="Consolas"/>
              </a:rPr>
              <a:t>     Y5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2A4A"/>
                </a:solidFill>
                <a:latin typeface="Segoe U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194560"/>
            <a:ext cx="6217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F2A4A"/>
                </a:solidFill>
                <a:latin typeface="Consolas"/>
              </a:rPr>
              <a:t>4.4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0848" y="2194560"/>
            <a:ext cx="6217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F2A4A"/>
                </a:solidFill>
                <a:latin typeface="Consolas"/>
              </a:rPr>
              <a:t>33.5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9215" y="2194560"/>
            <a:ext cx="6217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F2A4A"/>
                </a:solidFill>
                <a:latin typeface="Consolas"/>
              </a:rPr>
              <a:t>142.8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7584" y="2194560"/>
            <a:ext cx="6217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F2A4A"/>
                </a:solidFill>
                <a:latin typeface="Consolas"/>
              </a:rPr>
              <a:t>324.4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1" y="2194560"/>
            <a:ext cx="6217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F2A4A"/>
                </a:solidFill>
                <a:latin typeface="Consolas"/>
              </a:rPr>
              <a:t>604.8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560320"/>
            <a:ext cx="5120640" cy="10972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670048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0233A"/>
                </a:solidFill>
                <a:latin typeface="Segoe UI"/>
              </a:rPr>
              <a:t>Gross profit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670048"/>
            <a:ext cx="6217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F2A4A"/>
                </a:solidFill>
                <a:latin typeface="Consolas"/>
              </a:rPr>
              <a:t>1.9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2670048"/>
            <a:ext cx="6217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F2A4A"/>
                </a:solidFill>
                <a:latin typeface="Consolas"/>
              </a:rPr>
              <a:t>15.0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9215" y="2670048"/>
            <a:ext cx="6217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F2A4A"/>
                </a:solidFill>
                <a:latin typeface="Consolas"/>
              </a:rPr>
              <a:t>67.0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87584" y="2670048"/>
            <a:ext cx="6217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F2A4A"/>
                </a:solidFill>
                <a:latin typeface="Consolas"/>
              </a:rPr>
              <a:t>167.1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45951" y="2670048"/>
            <a:ext cx="6217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F2A4A"/>
                </a:solidFill>
                <a:latin typeface="Consolas"/>
              </a:rPr>
              <a:t>327.8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035808"/>
            <a:ext cx="5120640" cy="10972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145536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0233A"/>
                </a:solidFill>
                <a:latin typeface="Segoe UI"/>
              </a:rPr>
              <a:t>Op. expenses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145536"/>
            <a:ext cx="6217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F2A4A"/>
                </a:solidFill>
                <a:latin typeface="Consolas"/>
              </a:rPr>
              <a:t>12.0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0848" y="3145536"/>
            <a:ext cx="6217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F2A4A"/>
                </a:solidFill>
                <a:latin typeface="Consolas"/>
              </a:rPr>
              <a:t>28.0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9215" y="3145536"/>
            <a:ext cx="6217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F2A4A"/>
                </a:solidFill>
                <a:latin typeface="Consolas"/>
              </a:rPr>
              <a:t>50.0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87584" y="3145536"/>
            <a:ext cx="6217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F2A4A"/>
                </a:solidFill>
                <a:latin typeface="Consolas"/>
              </a:rPr>
              <a:t>95.0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45951" y="3145536"/>
            <a:ext cx="6217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F2A4A"/>
                </a:solidFill>
                <a:latin typeface="Consolas"/>
              </a:rPr>
              <a:t>160.0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511296"/>
            <a:ext cx="5120640" cy="10972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621024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2A4A"/>
                </a:solidFill>
                <a:latin typeface="Segoe UI"/>
              </a:rPr>
              <a:t>EBITDA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621024"/>
            <a:ext cx="6217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3242B"/>
                </a:solidFill>
                <a:latin typeface="Consolas"/>
              </a:rPr>
              <a:t>(10.1)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0848" y="3621024"/>
            <a:ext cx="6217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3242B"/>
                </a:solidFill>
                <a:latin typeface="Consolas"/>
              </a:rPr>
              <a:t>(13.0)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9215" y="3621024"/>
            <a:ext cx="6217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F2A4A"/>
                </a:solidFill>
                <a:latin typeface="Consolas"/>
              </a:rPr>
              <a:t>17.0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87584" y="3621024"/>
            <a:ext cx="6217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F2A4A"/>
                </a:solidFill>
                <a:latin typeface="Consolas"/>
              </a:rPr>
              <a:t>72.1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45951" y="3621024"/>
            <a:ext cx="6217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F2A4A"/>
                </a:solidFill>
                <a:latin typeface="Consolas"/>
              </a:rPr>
              <a:t>167.8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3986784"/>
            <a:ext cx="5120640" cy="10972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233672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5B6B7A"/>
                </a:solidFill>
                <a:latin typeface="Segoe UI"/>
              </a:rPr>
              <a:t>Founder's model; breakeven in Year 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E6F7A"/>
                </a:solidFill>
                <a:latin typeface="Consolas"/>
              </a:rPr>
              <a:t>08    </a:t>
            </a:r>
            <a:r>
              <a:rPr sz="1150" b="1" i="0" spc="220">
                <a:solidFill>
                  <a:srgbClr val="1E6F7A"/>
                </a:solidFill>
                <a:latin typeface="Segoe UI"/>
              </a:rPr>
              <a:t>GRID-PULSE NTL · FORMAL PROPOSAL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457200" cy="27432"/>
          </a:xfrm>
          <a:prstGeom prst="rect">
            <a:avLst/>
          </a:prstGeom>
          <a:solidFill>
            <a:srgbClr val="1E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2A4A"/>
                </a:solidFill>
                <a:latin typeface="Georgia"/>
              </a:rPr>
              <a:t>The Investment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49377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0F2A4A"/>
                </a:solidFill>
                <a:latin typeface="Georgia"/>
              </a:rPr>
              <a:t>EGP 30M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0" i="0">
                <a:solidFill>
                  <a:srgbClr val="10233A"/>
                </a:solidFill>
                <a:latin typeface="Segoe UI"/>
              </a:rPr>
              <a:t>≈ USD 625,000 seed — through a district pilot and two years to the Year-3 EBITDA turn.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400"/>
              </a:spcAft>
            </a:pPr>
            <a:r>
              <a:rPr sz="1250" b="0" i="0">
                <a:solidFill>
                  <a:srgbClr val="5B6B7A"/>
                </a:solidFill>
                <a:latin typeface="Segoe UI"/>
              </a:rPr>
              <a:t>Use of funds: field pilot 40% · product &amp; ML 25% · hardware R&amp;D + certification 15% · team &amp; G&amp;A 12% · go-to-market 8%.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82880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140">
                <a:solidFill>
                  <a:srgbClr val="1E6F7A"/>
                </a:solidFill>
                <a:latin typeface="Segoe UI"/>
              </a:rPr>
              <a:t>RISK &amp;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240280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E6F7A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0F2A4A"/>
                </a:solidFill>
                <a:latin typeface="Segoe UI"/>
              </a:rPr>
              <a:t>Procurement cycles</a:t>
            </a:r>
          </a:p>
          <a:p>
            <a:pPr algn="l">
              <a:lnSpc>
                <a:spcPct val="120000"/>
              </a:lnSpc>
              <a:spcBef>
                <a:spcPts val="100"/>
              </a:spcBef>
              <a:spcAft>
                <a:spcPts val="400"/>
              </a:spcAft>
            </a:pPr>
            <a:r>
              <a:rPr sz="1150" b="0" i="0">
                <a:solidFill>
                  <a:srgbClr val="5B6B7A"/>
                </a:solidFill>
                <a:latin typeface="Segoe UI"/>
              </a:rPr>
              <a:t>     paid pilot + audited recovery → framework tender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898648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E6F7A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0F2A4A"/>
                </a:solidFill>
                <a:latin typeface="Segoe UI"/>
              </a:rPr>
              <a:t>Hardware capital</a:t>
            </a:r>
          </a:p>
          <a:p>
            <a:pPr algn="l">
              <a:lnSpc>
                <a:spcPct val="120000"/>
              </a:lnSpc>
              <a:spcBef>
                <a:spcPts val="100"/>
              </a:spcBef>
              <a:spcAft>
                <a:spcPts val="400"/>
              </a:spcAft>
            </a:pPr>
            <a:r>
              <a:rPr sz="1150" b="0" i="0">
                <a:solidFill>
                  <a:srgbClr val="5B6B7A"/>
                </a:solidFill>
                <a:latin typeface="Segoe UI"/>
              </a:rPr>
              <a:t>     sold at margin; fleets asset-financed vs contracts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557016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E6F7A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0F2A4A"/>
                </a:solidFill>
                <a:latin typeface="Segoe UI"/>
              </a:rPr>
              <a:t>Model trust</a:t>
            </a:r>
          </a:p>
          <a:p>
            <a:pPr algn="l">
              <a:lnSpc>
                <a:spcPct val="120000"/>
              </a:lnSpc>
              <a:spcBef>
                <a:spcPts val="100"/>
              </a:spcBef>
              <a:spcAft>
                <a:spcPts val="400"/>
              </a:spcAft>
            </a:pPr>
            <a:r>
              <a:rPr sz="1150" b="0" i="0">
                <a:solidFill>
                  <a:srgbClr val="5B6B7A"/>
                </a:solidFill>
                <a:latin typeface="Segoe UI"/>
              </a:rPr>
              <a:t>     explainable, human-reviewed, retrained on real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215384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E6F7A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0F2A4A"/>
                </a:solidFill>
                <a:latin typeface="Segoe UI"/>
              </a:rPr>
              <a:t>Data &amp; privacy</a:t>
            </a:r>
          </a:p>
          <a:p>
            <a:pPr algn="l">
              <a:lnSpc>
                <a:spcPct val="120000"/>
              </a:lnSpc>
              <a:spcBef>
                <a:spcPts val="100"/>
              </a:spcBef>
              <a:spcAft>
                <a:spcPts val="400"/>
              </a:spcAft>
            </a:pPr>
            <a:r>
              <a:rPr sz="1150" b="0" i="0">
                <a:solidFill>
                  <a:srgbClr val="5B6B7A"/>
                </a:solidFill>
                <a:latin typeface="Segoe UI"/>
              </a:rPr>
              <a:t>     meters transformers, not households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00800"/>
            <a:ext cx="10972800" cy="1828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B6B7A"/>
                </a:solidFill>
                <a:latin typeface="Segoe UI"/>
              </a:rPr>
              <a:t>Confidential · Grid-Pulse NTL · Investment &amp; Deployment Proposal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