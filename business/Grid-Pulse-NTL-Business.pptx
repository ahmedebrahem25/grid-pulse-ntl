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spc="300">
                <a:solidFill>
                  <a:srgbClr val="34C8E0"/>
                </a:solidFill>
                <a:latin typeface="Consolas"/>
              </a:rPr>
              <a:t>GRID-PULSE NTL</a:t>
            </a:r>
            <a:r>
              <a:rPr sz="1200" b="0">
                <a:solidFill>
                  <a:srgbClr val="5F7178"/>
                </a:solidFill>
                <a:latin typeface="Consolas"/>
              </a:rPr>
              <a:t>   //  Business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9692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E8EEF0"/>
                </a:solidFill>
                <a:latin typeface="Segoe UI Semibold"/>
              </a:rPr>
              <a:t>The unit economics of </a:t>
            </a:r>
            <a:r>
              <a:rPr sz="3800" b="1">
                <a:solidFill>
                  <a:srgbClr val="34C8E0"/>
                </a:solidFill>
                <a:latin typeface="Segoe UI Semibold"/>
              </a:rPr>
              <a:t>catching theft</a:t>
            </a:r>
            <a:r>
              <a:rPr sz="3800" b="1">
                <a:solidFill>
                  <a:srgbClr val="E8EEF0"/>
                </a:solidFill>
                <a:latin typeface="Segoe UI Semibold"/>
              </a:rPr>
              <a:t> pay for themselves in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3D0D4"/>
                </a:solidFill>
                <a:latin typeface="Segoe UI"/>
              </a:rPr>
              <a:t>A B2G venture that recovers stolen electricity for Egypt's distribution companies — hardware on the transformer, AI in the cloud, and a share of every kilowatt it puts back on the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Consolas"/>
              </a:rPr>
              <a:t>EGP 48 = $1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Segoe UI"/>
              </a:rPr>
              <a:t>reference rate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892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Consolas"/>
              </a:rPr>
              <a:t>~230,000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Segoe UI"/>
              </a:rPr>
              <a:t>distribution transformers (est.)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Consolas"/>
              </a:rPr>
              <a:t>EGP 25–35B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Segoe UI"/>
              </a:rPr>
              <a:t>annual non-technical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4892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7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Consolas"/>
              </a:rPr>
              <a:t>&lt; 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Segoe UI"/>
              </a:rPr>
              <a:t>utility payback per node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01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How the money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14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00">
                <a:solidFill>
                  <a:srgbClr val="34C8E0"/>
                </a:solidFill>
                <a:latin typeface="Consolas"/>
              </a:rPr>
              <a:t>CUSTOMER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834639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Distribution companies (EDCs) — primary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Ministry of Electricity / regulator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Industrial estates; MENA utilities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233172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514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00">
                <a:solidFill>
                  <a:srgbClr val="34C8E0"/>
                </a:solidFill>
                <a:latin typeface="Consolas"/>
              </a:rPr>
              <a:t>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834639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Recover stolen energy — new revenue, not tariffs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Separate theft from natural loss → few false alarms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Explainable verdict an inspector acts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33172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514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00">
                <a:solidFill>
                  <a:srgbClr val="3DDC84"/>
                </a:solidFill>
                <a:latin typeface="Consolas"/>
              </a:rPr>
              <a:t>REVENUE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39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Hardware sale / HaaS lease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SaaS platform subscription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Performance / recovery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79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4805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00">
                <a:solidFill>
                  <a:srgbClr val="F4A63B"/>
                </a:solidFill>
                <a:latin typeface="Consolas"/>
              </a:rPr>
              <a:t>KEY RESOURCES ·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800599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Labelled theft dataset (compounds)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Edge hardware + detection IP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Ministry &amp; field-ops relationships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4297679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44805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00">
                <a:solidFill>
                  <a:srgbClr val="34C8E0"/>
                </a:solidFill>
                <a:latin typeface="Consolas"/>
              </a:rPr>
              <a:t>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800599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Direct BD to EDCs &amp; Ministry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Paid pilots → framework tenders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System integrators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297679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4805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00">
                <a:solidFill>
                  <a:srgbClr val="8A9BA1"/>
                </a:solidFill>
                <a:latin typeface="Consolas"/>
              </a:rPr>
              <a:t>COST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599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Hardware COGS &amp; logistics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Cloud + ML compute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6A74"/>
                </a:solidFill>
                <a:latin typeface="Segoe UI"/>
              </a:rPr>
              <a:t>– </a:t>
            </a:r>
            <a:r>
              <a:rPr sz="1150" b="0">
                <a:solidFill>
                  <a:srgbClr val="C3D0D4"/>
                </a:solidFill>
                <a:latin typeface="Segoe UI"/>
              </a:rPr>
              <a:t>Field deployment &amp;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02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Three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8A9BA1"/>
                </a:solidFill>
                <a:latin typeface="Segoe UI"/>
              </a:rPr>
              <a:t>Lead with a hardware sale + a light SaaS fee, then capture upside on the energy we actually recover.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41148" cy="3291840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97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60">
                <a:solidFill>
                  <a:srgbClr val="34C8E0"/>
                </a:solidFill>
                <a:latin typeface="Consolas"/>
              </a:rPr>
              <a:t>STREAM 01 · one-time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Segoe UI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8EEF0"/>
                </a:solidFill>
                <a:latin typeface="Consolas"/>
              </a:rPr>
              <a:t>EGP 6,000</a:t>
            </a:r>
            <a:r>
              <a:rPr sz="1200" b="0">
                <a:solidFill>
                  <a:srgbClr val="8A9BA1"/>
                </a:solidFill>
                <a:latin typeface="Segoe UI"/>
              </a:rPr>
              <a:t> /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4340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Edge node + gateway share at ~25% margin. Or HaaS lease to shift CapEx off the utility.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4688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468880"/>
            <a:ext cx="41148" cy="329184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697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60">
                <a:solidFill>
                  <a:srgbClr val="3DDC84"/>
                </a:solidFill>
                <a:latin typeface="Consolas"/>
              </a:rPr>
              <a:t>STREAM 02 · recurring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063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Segoe UI"/>
              </a:rPr>
              <a:t>SaaS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6118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8EEF0"/>
                </a:solidFill>
                <a:latin typeface="Consolas"/>
              </a:rPr>
              <a:t>EGP 300</a:t>
            </a:r>
            <a:r>
              <a:rPr sz="1200" b="0">
                <a:solidFill>
                  <a:srgbClr val="8A9BA1"/>
                </a:solidFill>
                <a:latin typeface="Segoe UI"/>
              </a:rPr>
              <a:t> / node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434340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Detection, live map, explainable verdicts, reporting. ~75% gross margin.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4688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468880"/>
            <a:ext cx="41148" cy="3291840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697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60">
                <a:solidFill>
                  <a:srgbClr val="F4A63B"/>
                </a:solidFill>
                <a:latin typeface="Consolas"/>
              </a:rPr>
              <a:t>STREAM 03 ·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3063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8EEF0"/>
                </a:solidFill>
                <a:latin typeface="Segoe UI"/>
              </a:rPr>
              <a:t>Recovery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6118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8EEF0"/>
                </a:solidFill>
                <a:latin typeface="Consolas"/>
              </a:rPr>
              <a:t>15%</a:t>
            </a:r>
            <a:r>
              <a:rPr sz="1200" b="0">
                <a:solidFill>
                  <a:srgbClr val="8A9BA1"/>
                </a:solidFill>
                <a:latin typeface="Segoe UI"/>
              </a:rPr>
              <a:t> of recovered 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434340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A cut of verified recovered billing for 24 months per zone. We win only when they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03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Every part, to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8A9BA1"/>
                </a:solidFill>
                <a:latin typeface="Segoe UI"/>
              </a:rPr>
              <a:t>A low-cost prototype proves the physics; a kiosk-grade production node ships to the transformer.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spc="100">
                <a:solidFill>
                  <a:srgbClr val="34C8E0"/>
                </a:solidFill>
                <a:latin typeface="Consolas"/>
              </a:rPr>
              <a:t>PROTOTYPE · PROOF OF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35808"/>
            <a:ext cx="488289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ESP32 DevKit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SCT-013-000 CT clamp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Burden + bias circuit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ZMPT101B voltage sensor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Breadboard, PSU, jumpers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0723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4061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73989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0736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074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230368"/>
            <a:ext cx="4882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EEF0"/>
                </a:solidFill>
                <a:latin typeface="Segoe UI"/>
              </a:rPr>
              <a:t>Total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2120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C8E0"/>
                </a:solidFill>
                <a:latin typeface="Consolas"/>
              </a:rPr>
              <a:t>≈ EGP 1,000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6700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spc="100">
                <a:solidFill>
                  <a:srgbClr val="3DDC84"/>
                </a:solidFill>
                <a:latin typeface="Consolas"/>
              </a:rPr>
              <a:t>PRODUCTION NODE (hardware)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035808"/>
            <a:ext cx="488289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Rogowski coil ×3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Metering AFE + MCU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LoRaWAN module (SX1262)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IP65 enclosure + power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Assembly, test &amp; calibration</a:t>
            </a: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0723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1,800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4061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73989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40736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1,200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44074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EGP 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230368"/>
            <a:ext cx="4882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EEF0"/>
                </a:solidFill>
                <a:latin typeface="Segoe UI"/>
              </a:rPr>
              <a:t>+ install EGP 1,500  ·  all-in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52120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DC84"/>
                </a:solidFill>
                <a:latin typeface="Consolas"/>
              </a:rPr>
              <a:t>≈ EGP 6,000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Segoe UI"/>
              </a:rPr>
              <a:t>One instrumented transformer ≈ EGP 6,000 (~$125) — and it watches a whole feeder of customers.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04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One node, five-year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All-in cost to deploy (CapEx)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4688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8EEF0"/>
                </a:solidFill>
                <a:latin typeface="Consolas"/>
              </a:rPr>
              <a:t>EGP 6,000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52928"/>
            <a:ext cx="5669280" cy="12801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Hardware gross margin (one-time)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9260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8EEF0"/>
                </a:solidFill>
                <a:latin typeface="Consolas"/>
              </a:rPr>
              <a:t>EGP 1,500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10128"/>
            <a:ext cx="5669280" cy="12801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SaaS revenue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8EEF0"/>
                </a:solidFill>
                <a:latin typeface="Consolas"/>
              </a:rPr>
              <a:t>EGP 3,600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67328"/>
            <a:ext cx="5669280" cy="12801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Recovery-share / year (blended)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8404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8EEF0"/>
                </a:solidFill>
                <a:latin typeface="Consolas"/>
              </a:rPr>
              <a:t>EGP 1,900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24528"/>
            <a:ext cx="5669280" cy="12801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Recurring gross profit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8EEF0"/>
                </a:solidFill>
                <a:latin typeface="Consolas"/>
              </a:rPr>
              <a:t>EGP 3,850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81728"/>
            <a:ext cx="5669280" cy="12801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Allocated CAC (acq. + install)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548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8EEF0"/>
                </a:solidFill>
                <a:latin typeface="Consolas"/>
              </a:rPr>
              <a:t>EGP 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38928"/>
            <a:ext cx="5669280" cy="12801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EF0"/>
                </a:solidFill>
                <a:latin typeface="Segoe UI"/>
              </a:rPr>
              <a:t>5-yr gross profit / node (LTV)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57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DDC84"/>
                </a:solidFill>
                <a:latin typeface="Consolas"/>
              </a:rPr>
              <a:t>≈ EGP 20,750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EF0"/>
                </a:solidFill>
                <a:latin typeface="Segoe UI"/>
              </a:rPr>
              <a:t>LTV / CAC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760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DDC84"/>
                </a:solidFill>
                <a:latin typeface="Consolas"/>
              </a:rPr>
              <a:t>≈ 8×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468880"/>
            <a:ext cx="4663440" cy="338328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468880"/>
            <a:ext cx="41148" cy="338328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697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spc="100">
                <a:solidFill>
                  <a:srgbClr val="3DDC84"/>
                </a:solidFill>
                <a:latin typeface="Consolas"/>
              </a:rPr>
              <a:t>THE CUSTOMER'S MATH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06324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DDC84"/>
                </a:solidFill>
                <a:latin typeface="Consolas"/>
              </a:rPr>
              <a:t>EGP 3,500</a:t>
            </a:r>
            <a:r>
              <a:rPr sz="1400" b="0">
                <a:solidFill>
                  <a:srgbClr val="8A9BA1"/>
                </a:solidFill>
                <a:latin typeface="Segoe UI"/>
              </a:rPr>
              <a:t>  / 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23360"/>
            <a:ext cx="4114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3D0D4"/>
                </a:solidFill>
                <a:latin typeface="Segoe UI"/>
              </a:rPr>
              <a:t>recovered when a node catches one continuous ~3 kW illegal draw (≈2,160 kWh/mo).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C3D0D4"/>
                </a:solidFill>
                <a:latin typeface="Segoe UI"/>
              </a:rPr>
              <a:t>Against an EGP 6,000 node — </a:t>
            </a:r>
            <a:r>
              <a:rPr sz="1300" b="1">
                <a:solidFill>
                  <a:srgbClr val="3DDC84"/>
                </a:solidFill>
                <a:latin typeface="Segoe UI"/>
              </a:rPr>
              <a:t>payback in under two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05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Five-year model — EGP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34C8E0"/>
                </a:solidFill>
                <a:latin typeface="Consolas"/>
              </a:rPr>
              <a:t>        </a:t>
            </a:r>
            <a:r>
              <a:rPr sz="1100" b="1">
                <a:solidFill>
                  <a:srgbClr val="34C8E0"/>
                </a:solidFill>
                <a:latin typeface="Consolas"/>
              </a:rPr>
              <a:t>      Y1</a:t>
            </a:r>
            <a:r>
              <a:rPr sz="1100" b="1">
                <a:solidFill>
                  <a:srgbClr val="34C8E0"/>
                </a:solidFill>
                <a:latin typeface="Consolas"/>
              </a:rPr>
              <a:t>      Y2</a:t>
            </a:r>
            <a:r>
              <a:rPr sz="1100" b="1">
                <a:solidFill>
                  <a:srgbClr val="34C8E0"/>
                </a:solidFill>
                <a:latin typeface="Consolas"/>
              </a:rPr>
              <a:t>      Y3</a:t>
            </a:r>
            <a:r>
              <a:rPr sz="1100" b="1">
                <a:solidFill>
                  <a:srgbClr val="34C8E0"/>
                </a:solidFill>
                <a:latin typeface="Consolas"/>
              </a:rPr>
              <a:t>      Y4</a:t>
            </a:r>
            <a:r>
              <a:rPr sz="1100" b="1">
                <a:solidFill>
                  <a:srgbClr val="34C8E0"/>
                </a:solidFill>
                <a:latin typeface="Consolas"/>
              </a:rPr>
              <a:t>      Y5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EF0"/>
                </a:solidFill>
                <a:latin typeface="Segoe UI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97480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3D0D4"/>
                </a:solidFill>
                <a:latin typeface="Consolas"/>
              </a:rPr>
              <a:t>4.4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2697480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3D0D4"/>
                </a:solidFill>
                <a:latin typeface="Consolas"/>
              </a:rPr>
              <a:t>33.5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2697480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3D0D4"/>
                </a:solidFill>
                <a:latin typeface="Consolas"/>
              </a:rPr>
              <a:t>142.8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3" y="2697480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3D0D4"/>
                </a:solidFill>
                <a:latin typeface="Consolas"/>
              </a:rPr>
              <a:t>324.4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697480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3D0D4"/>
                </a:solidFill>
                <a:latin typeface="Consolas"/>
              </a:rPr>
              <a:t>604.8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777240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Gross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172968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1.9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172968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15.0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3172968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67.0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3" y="3172968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167.1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3172968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327.8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38728"/>
            <a:ext cx="777240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4845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Operating expenses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48456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12.0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648456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28.0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3648456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50.0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3" y="3648456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95.0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3648456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160.0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14216"/>
            <a:ext cx="777240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2394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EF0"/>
                </a:solidFill>
                <a:latin typeface="Segoe UI"/>
              </a:rP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12394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Consolas"/>
              </a:rPr>
              <a:t>(10.1)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12394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Consolas"/>
              </a:rPr>
              <a:t>(13.0)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412394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17.0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3" y="412394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72.1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412394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167.8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489704"/>
            <a:ext cx="777240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99431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Transformers (k)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599431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4599431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1376" y="4599431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3" y="4599431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4599431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Consolas"/>
              </a:rPr>
              <a:t>90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965192"/>
            <a:ext cx="777240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0" y="5577840"/>
            <a:ext cx="2743200" cy="10972"/>
          </a:xfrm>
          <a:prstGeom prst="rect">
            <a:avLst/>
          </a:prstGeom>
          <a:solidFill>
            <a:srgbClr val="2A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10244" y="5563779"/>
            <a:ext cx="301752" cy="14060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10244" y="5559561"/>
            <a:ext cx="301752" cy="421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10244" y="5557217"/>
            <a:ext cx="301752" cy="2343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5623559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BA1"/>
                </a:solidFill>
                <a:latin typeface="Consolas"/>
              </a:rPr>
              <a:t>Y1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58884" y="5479414"/>
            <a:ext cx="301752" cy="98425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58884" y="5441451"/>
            <a:ext cx="301752" cy="37963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58884" y="5420828"/>
            <a:ext cx="301752" cy="20622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5623559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BA1"/>
                </a:solidFill>
                <a:latin typeface="Consolas"/>
              </a:rPr>
              <a:t>Y2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07524" y="5184140"/>
            <a:ext cx="301752" cy="393700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07524" y="4998538"/>
            <a:ext cx="301752" cy="185601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07524" y="4908550"/>
            <a:ext cx="301752" cy="89988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5623559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BA1"/>
                </a:solidFill>
                <a:latin typeface="Consolas"/>
              </a:rPr>
              <a:t>Y3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56164" y="4818561"/>
            <a:ext cx="301752" cy="759278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456164" y="4287066"/>
            <a:ext cx="301752" cy="531495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56164" y="4057408"/>
            <a:ext cx="301752" cy="229658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1280" y="5623559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BA1"/>
                </a:solidFill>
                <a:latin typeface="Consolas"/>
              </a:rPr>
              <a:t>Y4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04804" y="4312375"/>
            <a:ext cx="301752" cy="1265464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04804" y="3173457"/>
            <a:ext cx="301752" cy="1138917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004804" y="2743199"/>
            <a:ext cx="301752" cy="430257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89919" y="5623559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BA1"/>
                </a:solidFill>
                <a:latin typeface="Consolas"/>
              </a:rPr>
              <a:t>Y5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2423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Segoe UI"/>
              </a:rPr>
              <a:t>Revenue by stream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5989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4C8E0"/>
                </a:solidFill>
                <a:latin typeface="Segoe UI"/>
              </a:rPr>
              <a:t>■ </a:t>
            </a:r>
            <a:r>
              <a:rPr sz="950" b="0">
                <a:solidFill>
                  <a:srgbClr val="8A9BA1"/>
                </a:solidFill>
                <a:latin typeface="Segoe UI"/>
              </a:rPr>
              <a:t>Hardware  </a:t>
            </a:r>
            <a:r>
              <a:rPr sz="1000" b="0">
                <a:solidFill>
                  <a:srgbClr val="3DDC84"/>
                </a:solidFill>
                <a:latin typeface="Segoe UI"/>
              </a:rPr>
              <a:t>■ </a:t>
            </a:r>
            <a:r>
              <a:rPr sz="950" b="0">
                <a:solidFill>
                  <a:srgbClr val="8A9BA1"/>
                </a:solidFill>
                <a:latin typeface="Segoe UI"/>
              </a:rPr>
              <a:t>SaaS  </a:t>
            </a:r>
            <a:r>
              <a:rPr sz="1000" b="0">
                <a:solidFill>
                  <a:srgbClr val="F4A63B"/>
                </a:solidFill>
                <a:latin typeface="Segoe UI"/>
              </a:rPr>
              <a:t>■ </a:t>
            </a:r>
            <a:r>
              <a:rPr sz="950" b="0">
                <a:solidFill>
                  <a:srgbClr val="8A9BA1"/>
                </a:solidFill>
                <a:latin typeface="Segoe UI"/>
              </a:rPr>
              <a:t>Recovery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9893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Segoe UI"/>
              </a:rPr>
              <a:t>Breakeven in Year 3 as recurring revenue overtakes the cost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06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Onto the real iron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8A9BA1"/>
                </a:solidFill>
                <a:latin typeface="Segoe UI"/>
              </a:rPr>
              <a:t>The field target is a sealed distribution kiosk (RMU) in Kafr El-Sheikh — retrofitted non-invasively on the LV side.</a:t>
            </a:r>
          </a:p>
        </p:txBody>
      </p:sp>
      <p:pic>
        <p:nvPicPr>
          <p:cNvPr id="6" name="Picture 5" descr="kio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3383280" cy="2946728"/>
          </a:xfrm>
          <a:prstGeom prst="rect">
            <a:avLst/>
          </a:prstGeom>
          <a:ln w="15875">
            <a:solidFill>
              <a:srgbClr val="2A3A41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22960" y="55321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F7178"/>
                </a:solidFill>
                <a:latin typeface="Consolas"/>
              </a:rPr>
              <a:t>Distribution kiosk (RMU) · Kafr El-Sheikh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9748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Wrap 3 Rogowski coils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around the LV busbars — one per phase, no cables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9300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IP65 edge node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custom PCB in the panel; antenna outside the metal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88536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MV chamber never touched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magnetic coupling — no galvanic contact, no outage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08406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Scales to 90,000 kiosks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~30 min, reversible, tamper-resistant per unit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07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Where we 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8A9BA1"/>
                </a:solidFill>
                <a:latin typeface="Segoe UI"/>
              </a:rPr>
              <a:t>Six ways utilities fight theft today — only one is low-CapEx, explainable, and works without a smart-meter rollout.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60">
                <a:solidFill>
                  <a:srgbClr val="34C8E0"/>
                </a:solidFill>
                <a:latin typeface="Consolas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331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4C8E0"/>
                </a:solidFill>
                <a:latin typeface="Consolas"/>
              </a:rPr>
              <a:t>Needs 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31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4C8E0"/>
                </a:solidFill>
                <a:latin typeface="Consolas"/>
              </a:rPr>
              <a:t>Sep. theft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31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4C8E0"/>
                </a:solidFill>
                <a:latin typeface="Consolas"/>
              </a:rPr>
              <a:t>Explains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331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4C8E0"/>
                </a:solidFill>
                <a:latin typeface="Consolas"/>
              </a:rP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59" y="2331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4C8E0"/>
                </a:solidFill>
                <a:latin typeface="Consolas"/>
              </a:rPr>
              <a:t>Legacy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EF0"/>
                </a:solidFill>
                <a:latin typeface="Segoe UI"/>
              </a:rPr>
              <a:t>Manual field audits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52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onsolas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52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52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852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labour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852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364992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EF0"/>
                </a:solidFill>
                <a:latin typeface="Segoe UI"/>
              </a:rPr>
              <a:t>Full AMI rollout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6499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is 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36499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6499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36499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very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336499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new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77056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EF0"/>
                </a:solidFill>
                <a:latin typeface="Segoe UI"/>
              </a:rPr>
              <a:t>AMI / MDM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87705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7705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7705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87705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387705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needs AMI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38912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EF0"/>
                </a:solidFill>
                <a:latin typeface="Segoe UI"/>
              </a:rPr>
              <a:t>LV feeder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3891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onsolas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3891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891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43891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43891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901184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EF0"/>
                </a:solidFill>
                <a:latin typeface="Segoe UI"/>
              </a:rPr>
              <a:t>Fixed-threshold alarms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90118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onsolas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90118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90118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490118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490118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367528"/>
            <a:ext cx="11018520" cy="457200"/>
          </a:xfrm>
          <a:prstGeom prst="roundRect">
            <a:avLst>
              <a:gd name="adj" fmla="val 10000"/>
            </a:avLst>
          </a:prstGeom>
          <a:solidFill>
            <a:srgbClr val="0F1B1E"/>
          </a:solidFill>
          <a:ln w="12700">
            <a:solidFill>
              <a:srgbClr val="1C6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413248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DC84"/>
                </a:solidFill>
                <a:latin typeface="Segoe UI"/>
              </a:rPr>
              <a:t>Grid-Pulse NTL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4132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onsolas"/>
              </a:rP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4132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4132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19" y="54132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Consolas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59" y="54132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DDC84"/>
                </a:solidFill>
                <a:latin typeface="Consola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089904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EEF0"/>
                </a:solidFill>
                <a:latin typeface="Segoe UI"/>
              </a:rPr>
              <a:t>The whitespace:  </a:t>
            </a:r>
            <a:r>
              <a:rPr sz="1350" b="0">
                <a:solidFill>
                  <a:srgbClr val="8A9BA1"/>
                </a:solidFill>
                <a:latin typeface="Segoe UI"/>
              </a:rPr>
              <a:t>low-CapEx + explainable + no AMI required — the corner every incumbent misses.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08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MOAT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Why we win — and what could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100">
                <a:solidFill>
                  <a:srgbClr val="34C8E0"/>
                </a:solidFill>
                <a:latin typeface="Consolas"/>
              </a:rPr>
              <a:t>THE MOAT vs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EF0"/>
                </a:solidFill>
                <a:latin typeface="Segoe UI"/>
              </a:rPr>
              <a:t>Manual audits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697480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random, slow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81528"/>
            <a:ext cx="557784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7296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EF0"/>
                </a:solidFill>
                <a:latin typeface="Segoe UI"/>
              </a:rPr>
              <a:t>Smart-meter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172968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years · huge CapEx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57016"/>
            <a:ext cx="557784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48456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EF0"/>
                </a:solidFill>
                <a:latin typeface="Segoe UI"/>
              </a:rPr>
              <a:t>Fixed-threshold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48456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floods on hot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32504"/>
            <a:ext cx="557784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23944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DC84"/>
                </a:solidFill>
                <a:latin typeface="Segoe UI"/>
              </a:rPr>
              <a:t>Grid-Pulse NTL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123944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DDC84"/>
                </a:solidFill>
                <a:latin typeface="Segoe UI"/>
              </a:rPr>
              <a:t>localized, explained, ROI &lt; 2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07992"/>
            <a:ext cx="5577840" cy="1097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100">
                <a:solidFill>
                  <a:srgbClr val="F4A63B"/>
                </a:solidFill>
                <a:latin typeface="Consolas"/>
              </a:rPr>
              <a:t>RISKS → MITIGATION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9748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A63B"/>
                </a:solidFill>
                <a:latin typeface="Segoe UI"/>
              </a:rPr>
              <a:t>▲ </a:t>
            </a:r>
            <a:r>
              <a:rPr sz="1300" b="1">
                <a:solidFill>
                  <a:srgbClr val="E8EEF0"/>
                </a:solidFill>
                <a:latin typeface="Segoe UI"/>
              </a:rPr>
              <a:t>Slow B2G procurement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  <a:r>
              <a:rPr sz="1150" b="0">
                <a:solidFill>
                  <a:srgbClr val="8A9BA1"/>
                </a:solidFill>
                <a:latin typeface="Segoe UI"/>
              </a:rPr>
              <a:t>paid pilot + audited recovery → tender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93008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A63B"/>
                </a:solidFill>
                <a:latin typeface="Segoe UI"/>
              </a:rPr>
              <a:t>▲ </a:t>
            </a:r>
            <a:r>
              <a:rPr sz="1300" b="1">
                <a:solidFill>
                  <a:srgbClr val="E8EEF0"/>
                </a:solidFill>
                <a:latin typeface="Segoe UI"/>
              </a:rPr>
              <a:t>Hardware CapEx at scale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  <a:r>
              <a:rPr sz="1150" b="0">
                <a:solidFill>
                  <a:srgbClr val="8A9BA1"/>
                </a:solidFill>
                <a:latin typeface="Segoe UI"/>
              </a:rPr>
              <a:t>asset-backed financing vs signed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88536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A63B"/>
                </a:solidFill>
                <a:latin typeface="Segoe UI"/>
              </a:rPr>
              <a:t>▲ </a:t>
            </a:r>
            <a:r>
              <a:rPr sz="1300" b="1">
                <a:solidFill>
                  <a:srgbClr val="E8EEF0"/>
                </a:solidFill>
                <a:latin typeface="Segoe UI"/>
              </a:rPr>
              <a:t>Recovery-share decays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  <a:r>
              <a:rPr sz="1150" b="0">
                <a:solidFill>
                  <a:srgbClr val="8A9BA1"/>
                </a:solidFill>
                <a:latin typeface="Segoe UI"/>
              </a:rPr>
              <a:t>shift to recurring SaaS + new regions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84064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A63B"/>
                </a:solidFill>
                <a:latin typeface="Segoe UI"/>
              </a:rPr>
              <a:t>▲ </a:t>
            </a:r>
            <a:r>
              <a:rPr sz="1300" b="1">
                <a:solidFill>
                  <a:srgbClr val="E8EEF0"/>
                </a:solidFill>
                <a:latin typeface="Segoe UI"/>
              </a:rPr>
              <a:t>Model false positives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400" b="0">
                <a:solidFill>
                  <a:srgbClr val="E8EEF0"/>
                </a:solidFill>
                <a:latin typeface="Segoe UI"/>
              </a:rPr>
              <a:t>   </a:t>
            </a:r>
            <a:r>
              <a:rPr sz="1150" b="0">
                <a:solidFill>
                  <a:srgbClr val="8A9BA1"/>
                </a:solidFill>
                <a:latin typeface="Segoe UI"/>
              </a:rPr>
              <a:t>explainable verdicts + human-in-loop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6A74"/>
                </a:solidFill>
                <a:latin typeface="Consolas"/>
              </a:rPr>
              <a:t>09   </a:t>
            </a:r>
            <a:r>
              <a:rPr sz="1250" b="0" spc="240">
                <a:solidFill>
                  <a:srgbClr val="34C8E0"/>
                </a:solidFill>
                <a:latin typeface="Consola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E8EEF0"/>
                </a:solidFill>
                <a:latin typeface="Segoe UI Semibold"/>
              </a:rPr>
              <a:t>EGP 30M seed ·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34C8E0"/>
                </a:solidFill>
                <a:latin typeface="Consolas"/>
              </a:rPr>
              <a:t>EGP 30M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350" b="0">
                <a:solidFill>
                  <a:srgbClr val="8A9BA1"/>
                </a:solidFill>
                <a:latin typeface="Segoe UI"/>
              </a:rPr>
              <a:t>≈ $625K — carries the company through the district pilot and two years to the Year-3 EBITDA 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514600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Field pilot — 1,000 nodes + gateways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39327" y="2560320"/>
            <a:ext cx="863193" cy="109728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251460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EGP 12.0M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081528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Product &amp; ML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108960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9327" y="3127248"/>
            <a:ext cx="539496" cy="109728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308152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EGP 7.5M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48456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Hardware R&amp;D + certification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75888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3694176"/>
            <a:ext cx="323697" cy="109728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3648456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EGP 4.5M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215384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Team &amp; G&amp;A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242816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9327" y="4261104"/>
            <a:ext cx="258958" cy="109728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421538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EGP 3.6M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782312"/>
            <a:ext cx="3383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3D0D4"/>
                </a:solidFill>
                <a:latin typeface="Segoe UI"/>
              </a:rPr>
              <a:t>Go-to-market / BD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809744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9327" y="4828032"/>
            <a:ext cx="172638" cy="109728"/>
          </a:xfrm>
          <a:prstGeom prst="rect">
            <a:avLst/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4782312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EGP 2.4M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Segoe UI"/>
              </a:rPr>
              <a:t>Hardware at scale (Years 3–5) is funded by asset-backed financing against signed EDC contracts — keeping the equity raise small vs the EGP 600M+ revenue it unlocks.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